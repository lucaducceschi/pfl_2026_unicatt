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embeddedFontLst>
    <p:embeddedFont>
      <p:font typeface="Consolas" panose="020B0609020204030204" pitchFamily="49" charset="0"/>
      <p:regular r:id="rId25"/>
      <p:bold r:id="rId26"/>
      <p:italic r:id="rId27"/>
      <p:boldItalic r:id="rId28"/>
    </p:embeddedFont>
    <p:embeddedFont>
      <p:font typeface="Play" panose="020B0604020202020204" charset="0"/>
      <p:regular r:id="rId29"/>
      <p:bold r:id="rId30"/>
    </p:embeddedFont>
    <p:embeddedFont>
      <p:font typeface="UnifrakturMaguntia" panose="020B0604020202020204" charset="0"/>
      <p:regular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57DC75F-CB60-4E37-9FD5-969567CD5338}">
  <a:tblStyle styleId="{357DC75F-CB60-4E37-9FD5-969567CD533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‹N›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7" name="Google Shape;187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acb5e55a66_0_3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g3acb5e55a66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ace3f4cda0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g3ace3f4cda0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titolo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e contenuto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estazione sezione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e contenuti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fronto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titolo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uota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to con didascalia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magine con didascalia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olo e testo verticale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olo e testo verticale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‹N›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3"/>
          <p:cNvSpPr/>
          <p:nvPr/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861"/>
              </a:gs>
            </a:gsLst>
            <a:lin ang="4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3"/>
          <p:cNvSpPr/>
          <p:nvPr/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0">
                <a:srgbClr val="0A3041">
                  <a:alpha val="82745"/>
                </a:srgbClr>
              </a:gs>
              <a:gs pos="21000">
                <a:srgbClr val="0A3041">
                  <a:alpha val="82745"/>
                </a:srgbClr>
              </a:gs>
              <a:gs pos="100000">
                <a:srgbClr val="156082">
                  <a:alpha val="0"/>
                </a:srgbClr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3"/>
          <p:cNvSpPr/>
          <p:nvPr/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rgbClr val="0F4861">
                  <a:alpha val="0"/>
                </a:srgbClr>
              </a:gs>
              <a:gs pos="99000">
                <a:srgbClr val="000000">
                  <a:alpha val="40784"/>
                </a:srgbClr>
              </a:gs>
              <a:gs pos="100000">
                <a:srgbClr val="000000">
                  <a:alpha val="40784"/>
                </a:srgbClr>
              </a:gs>
            </a:gsLst>
            <a:lin ang="13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3"/>
          <p:cNvSpPr/>
          <p:nvPr/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0">
                <a:srgbClr val="0F4861">
                  <a:alpha val="0"/>
                </a:srgbClr>
              </a:gs>
              <a:gs pos="3000">
                <a:srgbClr val="0F4861">
                  <a:alpha val="0"/>
                </a:srgbClr>
              </a:gs>
              <a:gs pos="100000">
                <a:srgbClr val="000000">
                  <a:alpha val="72941"/>
                </a:srgbClr>
              </a:gs>
            </a:gsLst>
            <a:lin ang="17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3"/>
          <p:cNvSpPr/>
          <p:nvPr/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0">
                <a:srgbClr val="0F4861">
                  <a:alpha val="0"/>
                </a:srgbClr>
              </a:gs>
              <a:gs pos="3000">
                <a:srgbClr val="0F4861">
                  <a:alpha val="0"/>
                </a:srgbClr>
              </a:gs>
              <a:gs pos="100000">
                <a:srgbClr val="000000">
                  <a:alpha val="26666"/>
                </a:srgbClr>
              </a:gs>
            </a:gsLst>
            <a:lin ang="13800001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3"/>
          <p:cNvSpPr/>
          <p:nvPr/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rgbClr val="156082">
                  <a:alpha val="25882"/>
                </a:srgbClr>
              </a:gs>
              <a:gs pos="85000">
                <a:srgbClr val="43AFE2">
                  <a:alpha val="0"/>
                </a:srgbClr>
              </a:gs>
              <a:gs pos="100000">
                <a:srgbClr val="43AFE2">
                  <a:alpha val="0"/>
                </a:srgbClr>
              </a:gs>
            </a:gsLst>
            <a:lin ang="14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3"/>
          <p:cNvSpPr txBox="1">
            <a:spLocks noGrp="1"/>
          </p:cNvSpPr>
          <p:nvPr>
            <p:ph type="ctrTitle"/>
          </p:nvPr>
        </p:nvSpPr>
        <p:spPr>
          <a:xfrm>
            <a:off x="4162567" y="818984"/>
            <a:ext cx="6714600" cy="31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Play"/>
              <a:buNone/>
            </a:pPr>
            <a:r>
              <a:rPr lang="it-IT" sz="5400">
                <a:solidFill>
                  <a:srgbClr val="FFFFFF"/>
                </a:solidFill>
              </a:rPr>
              <a:t>Improving OCR Output Quality of Historical German Texts with LLMs</a:t>
            </a:r>
            <a:endParaRPr sz="5400">
              <a:solidFill>
                <a:srgbClr val="FFFFFF"/>
              </a:solidFill>
            </a:endParaRPr>
          </a:p>
        </p:txBody>
      </p:sp>
      <p:sp>
        <p:nvSpPr>
          <p:cNvPr id="96" name="Google Shape;96;p13"/>
          <p:cNvSpPr/>
          <p:nvPr/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rgbClr val="0F4861">
                  <a:alpha val="49803"/>
                </a:srgbClr>
              </a:gs>
              <a:gs pos="99000">
                <a:srgbClr val="000000">
                  <a:alpha val="33725"/>
                </a:srgbClr>
              </a:gs>
              <a:gs pos="100000">
                <a:srgbClr val="000000">
                  <a:alpha val="33725"/>
                </a:srgbClr>
              </a:gs>
            </a:gsLst>
            <a:lin ang="13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3"/>
          <p:cNvSpPr txBox="1">
            <a:spLocks noGrp="1"/>
          </p:cNvSpPr>
          <p:nvPr>
            <p:ph type="subTitle" idx="1"/>
          </p:nvPr>
        </p:nvSpPr>
        <p:spPr>
          <a:xfrm>
            <a:off x="4285500" y="4725550"/>
            <a:ext cx="7906500" cy="190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</a:pPr>
            <a:r>
              <a:rPr lang="it-IT">
                <a:solidFill>
                  <a:srgbClr val="FFFFFF"/>
                </a:solidFill>
              </a:rPr>
              <a:t>Pipeline Validation and Post-Correction Benchmarks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</a:pPr>
            <a:r>
              <a:rPr lang="it-IT">
                <a:solidFill>
                  <a:srgbClr val="FFFFFF"/>
                </a:solidFill>
              </a:rPr>
              <a:t>Federico Villa		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</a:pPr>
            <a:r>
              <a:rPr lang="it-IT">
                <a:solidFill>
                  <a:srgbClr val="FFFFFF"/>
                </a:solidFill>
              </a:rPr>
              <a:t>Supervisor: Prof. Luca Ducceschi</a:t>
            </a:r>
            <a:endParaRPr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</a:pPr>
            <a:r>
              <a:rPr lang="it-IT">
                <a:solidFill>
                  <a:srgbClr val="FFFFFF"/>
                </a:solidFill>
              </a:rPr>
              <a:t>Co-Supervisor: Prof. Marco Carlo Passarotti</a:t>
            </a:r>
            <a:endParaRPr>
              <a:solidFill>
                <a:srgbClr val="FFFFFF"/>
              </a:solidFill>
            </a:endParaRPr>
          </a:p>
        </p:txBody>
      </p:sp>
      <p:pic>
        <p:nvPicPr>
          <p:cNvPr id="98" name="Google Shape;98;p13" title="universita-cattolica-logo-partner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6800" y="4643588"/>
            <a:ext cx="2899375" cy="207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4"/>
          <p:cNvSpPr/>
          <p:nvPr/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861"/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4"/>
          <p:cNvSpPr/>
          <p:nvPr/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20000">
                <a:srgbClr val="156082">
                  <a:alpha val="0"/>
                </a:srgbClr>
              </a:gs>
              <a:gs pos="100000">
                <a:srgbClr val="0A3041">
                  <a:alpha val="54901"/>
                </a:srgbClr>
              </a:gs>
            </a:gsLst>
            <a:lin ang="13800001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4"/>
          <p:cNvSpPr/>
          <p:nvPr/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rgbClr val="156082">
                  <a:alpha val="65882"/>
                </a:srgbClr>
              </a:gs>
              <a:gs pos="100000">
                <a:srgbClr val="000000">
                  <a:alpha val="29803"/>
                </a:srgbClr>
              </a:gs>
            </a:gsLst>
            <a:lin ang="13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0A3041">
                  <a:alpha val="51764"/>
                </a:srgbClr>
              </a:gs>
              <a:gs pos="100000">
                <a:srgbClr val="0A3041">
                  <a:alpha val="51764"/>
                </a:srgbClr>
              </a:gs>
            </a:gsLst>
            <a:lin ang="16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4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Play"/>
              <a:buNone/>
            </a:pPr>
            <a:r>
              <a:rPr lang="it-IT" sz="5000">
                <a:solidFill>
                  <a:srgbClr val="FFFFFF"/>
                </a:solidFill>
              </a:rPr>
              <a:t>Digitizing South Tyrolean Heritage</a:t>
            </a:r>
            <a:endParaRPr/>
          </a:p>
        </p:txBody>
      </p:sp>
      <p:sp>
        <p:nvSpPr>
          <p:cNvPr id="109" name="Google Shape;109;p14"/>
          <p:cNvSpPr txBox="1">
            <a:spLocks noGrp="1"/>
          </p:cNvSpPr>
          <p:nvPr>
            <p:ph type="body" idx="1"/>
          </p:nvPr>
        </p:nvSpPr>
        <p:spPr>
          <a:xfrm>
            <a:off x="1371600" y="2318197"/>
            <a:ext cx="4339390" cy="3683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it-IT" sz="2600" b="1"/>
              <a:t>The Archive</a:t>
            </a:r>
            <a:r>
              <a:rPr lang="it-IT" sz="2600"/>
              <a:t>: Landesbibliothek Teßmann (Bolzano)</a:t>
            </a:r>
            <a:endParaRPr sz="26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endParaRPr sz="26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it-IT" sz="2600" b="1"/>
              <a:t>Focus</a:t>
            </a:r>
            <a:r>
              <a:rPr lang="it-IT" sz="2600"/>
              <a:t>: 19th-century German literature, poetry and journals.</a:t>
            </a:r>
            <a:endParaRPr sz="2600"/>
          </a:p>
        </p:txBody>
      </p:sp>
      <p:sp>
        <p:nvSpPr>
          <p:cNvPr id="110" name="Google Shape;110;p14"/>
          <p:cNvSpPr txBox="1">
            <a:spLocks noGrp="1"/>
          </p:cNvSpPr>
          <p:nvPr>
            <p:ph type="body" idx="1"/>
          </p:nvPr>
        </p:nvSpPr>
        <p:spPr>
          <a:xfrm>
            <a:off x="6950325" y="2968125"/>
            <a:ext cx="4160400" cy="23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it-IT" sz="2600" b="1"/>
              <a:t>Current State</a:t>
            </a:r>
            <a:r>
              <a:rPr lang="it-IT" sz="2600"/>
              <a:t>: Massive digitization efforts, but accessibility is limited by raw text quality.</a:t>
            </a:r>
            <a:endParaRPr sz="2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5"/>
          <p:cNvSpPr/>
          <p:nvPr/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861"/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5"/>
          <p:cNvSpPr/>
          <p:nvPr/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20000">
                <a:srgbClr val="156082">
                  <a:alpha val="0"/>
                </a:srgbClr>
              </a:gs>
              <a:gs pos="100000">
                <a:srgbClr val="0A3041">
                  <a:alpha val="54901"/>
                </a:srgbClr>
              </a:gs>
            </a:gsLst>
            <a:lin ang="13800001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5"/>
          <p:cNvSpPr/>
          <p:nvPr/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rgbClr val="156082">
                  <a:alpha val="65882"/>
                </a:srgbClr>
              </a:gs>
              <a:gs pos="100000">
                <a:srgbClr val="000000">
                  <a:alpha val="29803"/>
                </a:srgbClr>
              </a:gs>
            </a:gsLst>
            <a:lin ang="13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0A3041">
                  <a:alpha val="51764"/>
                </a:srgbClr>
              </a:gs>
              <a:gs pos="100000">
                <a:srgbClr val="0A3041">
                  <a:alpha val="51764"/>
                </a:srgbClr>
              </a:gs>
            </a:gsLst>
            <a:lin ang="16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5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Play"/>
              <a:buNone/>
            </a:pPr>
            <a:r>
              <a:rPr lang="it-IT" sz="5000">
                <a:solidFill>
                  <a:srgbClr val="FFFFFF"/>
                </a:solidFill>
              </a:rPr>
              <a:t>The Problem: </a:t>
            </a:r>
            <a:endParaRPr sz="50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Play"/>
              <a:buNone/>
            </a:pPr>
            <a:r>
              <a:rPr lang="it-IT" sz="5000">
                <a:solidFill>
                  <a:srgbClr val="FFFFFF"/>
                </a:solidFill>
              </a:rPr>
              <a:t>Fraktur &amp; Historical Noise</a:t>
            </a:r>
            <a:endParaRPr sz="5000">
              <a:solidFill>
                <a:srgbClr val="FFFFFF"/>
              </a:solidFill>
            </a:endParaRPr>
          </a:p>
        </p:txBody>
      </p:sp>
      <p:sp>
        <p:nvSpPr>
          <p:cNvPr id="121" name="Google Shape;121;p15"/>
          <p:cNvSpPr txBox="1">
            <a:spLocks noGrp="1"/>
          </p:cNvSpPr>
          <p:nvPr>
            <p:ph type="body" idx="1"/>
          </p:nvPr>
        </p:nvSpPr>
        <p:spPr>
          <a:xfrm>
            <a:off x="800200" y="1995700"/>
            <a:ext cx="4799700" cy="43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85000" lnSpcReduction="1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600" b="1"/>
              <a:t>Typeface:</a:t>
            </a:r>
            <a:r>
              <a:rPr lang="it-IT" sz="2600"/>
              <a:t> </a:t>
            </a:r>
            <a:endParaRPr sz="26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600"/>
              <a:t>Fraktur (‘Blackletter’) was standard in 19th-century Germany.</a:t>
            </a:r>
            <a:endParaRPr sz="26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26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600" b="1"/>
              <a:t>Visual Complexity:</a:t>
            </a:r>
            <a:r>
              <a:rPr lang="it-IT" sz="2600"/>
              <a:t> </a:t>
            </a:r>
            <a:endParaRPr sz="26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600"/>
              <a:t>Broken strokes, dense ink, similar glyphs.</a:t>
            </a:r>
            <a:endParaRPr sz="26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26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it-IT" sz="2600" b="1"/>
              <a:t>Physical Degradation:</a:t>
            </a:r>
            <a:r>
              <a:rPr lang="it-IT" sz="2600"/>
              <a:t> Foxing, ink bleed-through, warped pages.</a:t>
            </a:r>
            <a:endParaRPr/>
          </a:p>
        </p:txBody>
      </p:sp>
      <p:sp>
        <p:nvSpPr>
          <p:cNvPr id="122" name="Google Shape;122;p15"/>
          <p:cNvSpPr/>
          <p:nvPr/>
        </p:nvSpPr>
        <p:spPr>
          <a:xfrm>
            <a:off x="5524600" y="2188000"/>
            <a:ext cx="5964900" cy="39438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3" name="Google Shape;123;p15" title="Screenshot from 2025-12-02 17-52-4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24601" y="2188025"/>
            <a:ext cx="5964900" cy="39437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6"/>
          <p:cNvSpPr/>
          <p:nvPr/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861"/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6"/>
          <p:cNvSpPr/>
          <p:nvPr/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20000">
                <a:srgbClr val="156082">
                  <a:alpha val="0"/>
                </a:srgbClr>
              </a:gs>
              <a:gs pos="100000">
                <a:srgbClr val="0A3041">
                  <a:alpha val="54901"/>
                </a:srgbClr>
              </a:gs>
            </a:gsLst>
            <a:lin ang="13800001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6"/>
          <p:cNvSpPr/>
          <p:nvPr/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rgbClr val="156082">
                  <a:alpha val="65882"/>
                </a:srgbClr>
              </a:gs>
              <a:gs pos="100000">
                <a:srgbClr val="000000">
                  <a:alpha val="29803"/>
                </a:srgbClr>
              </a:gs>
            </a:gsLst>
            <a:lin ang="13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0A3041">
                  <a:alpha val="51764"/>
                </a:srgbClr>
              </a:gs>
              <a:gs pos="100000">
                <a:srgbClr val="0A3041">
                  <a:alpha val="51764"/>
                </a:srgbClr>
              </a:gs>
            </a:gsLst>
            <a:lin ang="16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6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Play"/>
              <a:buNone/>
            </a:pPr>
            <a:r>
              <a:rPr lang="it-IT" sz="5000">
                <a:solidFill>
                  <a:srgbClr val="FFFFFF"/>
                </a:solidFill>
              </a:rPr>
              <a:t>Why Standard OCR Fails</a:t>
            </a:r>
            <a:endParaRPr sz="5000">
              <a:solidFill>
                <a:srgbClr val="FFFFFF"/>
              </a:solidFill>
            </a:endParaRPr>
          </a:p>
        </p:txBody>
      </p:sp>
      <p:sp>
        <p:nvSpPr>
          <p:cNvPr id="134" name="Google Shape;134;p16"/>
          <p:cNvSpPr txBox="1">
            <a:spLocks noGrp="1"/>
          </p:cNvSpPr>
          <p:nvPr>
            <p:ph type="body" idx="1"/>
          </p:nvPr>
        </p:nvSpPr>
        <p:spPr>
          <a:xfrm>
            <a:off x="1371599" y="2318197"/>
            <a:ext cx="9724031" cy="3683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it-IT" sz="2600" b="1"/>
              <a:t>Visual Ambiguity:</a:t>
            </a:r>
            <a:r>
              <a:rPr lang="it-IT" sz="2600"/>
              <a:t> e.g. ‘Long-s’ (“</a:t>
            </a:r>
            <a:r>
              <a:rPr lang="it-IT" sz="2600">
                <a:latin typeface="UnifrakturMaguntia"/>
                <a:ea typeface="UnifrakturMaguntia"/>
                <a:cs typeface="UnifrakturMaguntia"/>
                <a:sym typeface="UnifrakturMaguntia"/>
              </a:rPr>
              <a:t>f”</a:t>
            </a:r>
            <a:r>
              <a:rPr lang="it-IT" sz="2600"/>
              <a:t> vs. “</a:t>
            </a:r>
            <a:r>
              <a:rPr lang="it-IT" sz="2600">
                <a:solidFill>
                  <a:srgbClr val="202122"/>
                </a:solidFill>
                <a:highlight>
                  <a:srgbClr val="F8F9FA"/>
                </a:highlight>
                <a:latin typeface="UnifrakturMaguntia"/>
                <a:ea typeface="UnifrakturMaguntia"/>
                <a:cs typeface="UnifrakturMaguntia"/>
                <a:sym typeface="UnifrakturMaguntia"/>
              </a:rPr>
              <a:t>ſ”</a:t>
            </a:r>
            <a:r>
              <a:rPr lang="it-IT" sz="2600"/>
              <a:t>) problem.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it-IT" sz="2600" b="1"/>
              <a:t>Ligatures:</a:t>
            </a:r>
            <a:r>
              <a:rPr lang="it-IT" sz="2600"/>
              <a:t> Complex combined characters (ch=</a:t>
            </a:r>
            <a:r>
              <a:rPr lang="it-IT" sz="2600">
                <a:latin typeface="UnifrakturMaguntia"/>
                <a:ea typeface="UnifrakturMaguntia"/>
                <a:cs typeface="UnifrakturMaguntia"/>
                <a:sym typeface="UnifrakturMaguntia"/>
              </a:rPr>
              <a:t>ch</a:t>
            </a:r>
            <a:r>
              <a:rPr lang="it-IT" sz="2600"/>
              <a:t>, ck=</a:t>
            </a:r>
            <a:r>
              <a:rPr lang="it-IT" sz="2600">
                <a:latin typeface="UnifrakturMaguntia"/>
                <a:ea typeface="UnifrakturMaguntia"/>
                <a:cs typeface="UnifrakturMaguntia"/>
                <a:sym typeface="UnifrakturMaguntia"/>
              </a:rPr>
              <a:t>ck</a:t>
            </a:r>
            <a:r>
              <a:rPr lang="it-IT" sz="2600"/>
              <a:t>, tz=</a:t>
            </a:r>
            <a:r>
              <a:rPr lang="it-IT" sz="2600">
                <a:latin typeface="UnifrakturMaguntia"/>
                <a:ea typeface="UnifrakturMaguntia"/>
                <a:cs typeface="UnifrakturMaguntia"/>
                <a:sym typeface="UnifrakturMaguntia"/>
              </a:rPr>
              <a:t>tz</a:t>
            </a:r>
            <a:r>
              <a:rPr lang="it-IT" sz="2600"/>
              <a:t>) often misread.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it-IT" sz="2600" b="1"/>
              <a:t>Original Pipeline Results:</a:t>
            </a:r>
            <a:r>
              <a:rPr lang="it-IT" sz="2600"/>
              <a:t> The commercial solution yielded </a:t>
            </a:r>
            <a:r>
              <a:rPr lang="it-IT"/>
              <a:t>~18,7% WER.</a:t>
            </a:r>
            <a:endParaRPr sz="26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it-IT" sz="2600" b="1"/>
              <a:t>Impact:</a:t>
            </a:r>
            <a:r>
              <a:rPr lang="it-IT" sz="2600"/>
              <a:t> 1 in 6 words incorrectly transcribed, making any linguistic analysis impossible.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7"/>
          <p:cNvSpPr/>
          <p:nvPr/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861"/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7"/>
          <p:cNvSpPr/>
          <p:nvPr/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20000">
                <a:srgbClr val="156082">
                  <a:alpha val="0"/>
                </a:srgbClr>
              </a:gs>
              <a:gs pos="100000">
                <a:srgbClr val="0A3041">
                  <a:alpha val="54901"/>
                </a:srgbClr>
              </a:gs>
            </a:gsLst>
            <a:lin ang="13800001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7"/>
          <p:cNvSpPr/>
          <p:nvPr/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rgbClr val="156082">
                  <a:alpha val="65882"/>
                </a:srgbClr>
              </a:gs>
              <a:gs pos="100000">
                <a:srgbClr val="000000">
                  <a:alpha val="29803"/>
                </a:srgbClr>
              </a:gs>
            </a:gsLst>
            <a:lin ang="13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0A3041">
                  <a:alpha val="51764"/>
                </a:srgbClr>
              </a:gs>
              <a:gs pos="100000">
                <a:srgbClr val="0A3041">
                  <a:alpha val="51764"/>
                </a:srgbClr>
              </a:gs>
            </a:gsLst>
            <a:lin ang="16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7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Play"/>
              <a:buNone/>
            </a:pPr>
            <a:r>
              <a:rPr lang="it-IT" sz="5000">
                <a:solidFill>
                  <a:srgbClr val="FFFFFF"/>
                </a:solidFill>
              </a:rPr>
              <a:t>Research Objectives</a:t>
            </a:r>
            <a:endParaRPr sz="5000">
              <a:solidFill>
                <a:srgbClr val="FFFFFF"/>
              </a:solidFill>
            </a:endParaRPr>
          </a:p>
        </p:txBody>
      </p:sp>
      <p:sp>
        <p:nvSpPr>
          <p:cNvPr id="145" name="Google Shape;145;p17"/>
          <p:cNvSpPr txBox="1">
            <a:spLocks noGrp="1"/>
          </p:cNvSpPr>
          <p:nvPr>
            <p:ph type="body" idx="1"/>
          </p:nvPr>
        </p:nvSpPr>
        <p:spPr>
          <a:xfrm>
            <a:off x="1371599" y="2318197"/>
            <a:ext cx="9724031" cy="3683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5143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lay"/>
              <a:buAutoNum type="arabicPeriod"/>
            </a:pPr>
            <a:r>
              <a:rPr lang="it-IT" sz="2600" b="1"/>
              <a:t>Establish a High-Quality Baseline:</a:t>
            </a:r>
            <a:r>
              <a:rPr lang="it-IT" sz="2600"/>
              <a:t> </a:t>
            </a:r>
            <a:endParaRPr sz="2600"/>
          </a:p>
          <a:p>
            <a:pPr marL="5400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/>
              <a:t>Replace the commercial OCR with a specialized open-source pipeline.</a:t>
            </a:r>
            <a:endParaRPr sz="2600"/>
          </a:p>
          <a:p>
            <a:pPr marL="5400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lay"/>
              <a:buAutoNum type="arabicPeriod"/>
            </a:pPr>
            <a:r>
              <a:rPr lang="it-IT" sz="2600" b="1"/>
              <a:t>Evaluate LLM Post-Correction:</a:t>
            </a:r>
            <a:r>
              <a:rPr lang="it-IT" sz="2600"/>
              <a:t> </a:t>
            </a:r>
            <a:endParaRPr sz="2600"/>
          </a:p>
          <a:p>
            <a:pPr marL="5400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it-IT" sz="2600"/>
              <a:t>Can Generative AI fix residual errors without fine-tuning?</a:t>
            </a:r>
            <a:endParaRPr sz="2600"/>
          </a:p>
          <a:p>
            <a:pPr marL="5400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600"/>
          </a:p>
          <a:p>
            <a:pPr marL="514350" lvl="0" indent="-5143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lay"/>
              <a:buAutoNum type="arabicPeriod"/>
            </a:pPr>
            <a:r>
              <a:rPr lang="it-IT" sz="2600" b="1"/>
              <a:t>Cost-Benefit Analysis:</a:t>
            </a:r>
            <a:endParaRPr sz="2600"/>
          </a:p>
          <a:p>
            <a:pPr marL="228600" lvl="0" indent="311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it-IT" sz="2600"/>
              <a:t>Identify the ‘Efficiency Frontier’ for large-scale digitization.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8"/>
          <p:cNvSpPr/>
          <p:nvPr/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861"/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8"/>
          <p:cNvSpPr/>
          <p:nvPr/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20000">
                <a:srgbClr val="156082">
                  <a:alpha val="0"/>
                </a:srgbClr>
              </a:gs>
              <a:gs pos="100000">
                <a:srgbClr val="0A3041">
                  <a:alpha val="54901"/>
                </a:srgbClr>
              </a:gs>
            </a:gsLst>
            <a:lin ang="13800001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8"/>
          <p:cNvSpPr/>
          <p:nvPr/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rgbClr val="156082">
                  <a:alpha val="65882"/>
                </a:srgbClr>
              </a:gs>
              <a:gs pos="100000">
                <a:srgbClr val="000000">
                  <a:alpha val="29803"/>
                </a:srgbClr>
              </a:gs>
            </a:gsLst>
            <a:lin ang="13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8"/>
          <p:cNvSpPr/>
          <p:nvPr/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0A3041">
                  <a:alpha val="51764"/>
                </a:srgbClr>
              </a:gs>
              <a:gs pos="100000">
                <a:srgbClr val="0A3041">
                  <a:alpha val="51764"/>
                </a:srgbClr>
              </a:gs>
            </a:gsLst>
            <a:lin ang="16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8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Play"/>
              <a:buNone/>
            </a:pPr>
            <a:r>
              <a:rPr lang="it-IT" sz="5000">
                <a:solidFill>
                  <a:srgbClr val="FFFFFF"/>
                </a:solidFill>
              </a:rPr>
              <a:t>Methodology: A Two-Stage Pipeline</a:t>
            </a:r>
            <a:endParaRPr/>
          </a:p>
        </p:txBody>
      </p:sp>
      <p:sp>
        <p:nvSpPr>
          <p:cNvPr id="156" name="Google Shape;156;p18"/>
          <p:cNvSpPr/>
          <p:nvPr/>
        </p:nvSpPr>
        <p:spPr>
          <a:xfrm>
            <a:off x="7190850" y="2168025"/>
            <a:ext cx="4076700" cy="3854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it-IT" sz="2600">
                <a:solidFill>
                  <a:schemeClr val="dk1"/>
                </a:solidFill>
              </a:rPr>
              <a:t>Stage 2:</a:t>
            </a:r>
            <a:endParaRPr sz="260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it-IT" sz="2600" b="1">
                <a:solidFill>
                  <a:schemeClr val="dk1"/>
                </a:solidFill>
              </a:rPr>
              <a:t>LLM Post-Correction</a:t>
            </a:r>
            <a:endParaRPr sz="2600" b="1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endParaRPr sz="2600" b="1">
              <a:solidFill>
                <a:schemeClr val="dk1"/>
              </a:solidFill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it-IT" sz="2200">
                <a:solidFill>
                  <a:schemeClr val="dk1"/>
                </a:solidFill>
              </a:rPr>
              <a:t>Approach: </a:t>
            </a:r>
            <a:endParaRPr sz="2200">
              <a:solidFill>
                <a:schemeClr val="dk1"/>
              </a:solidFill>
            </a:endParaRPr>
          </a:p>
          <a:p>
            <a:pPr marL="68580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it-IT" sz="2200">
                <a:solidFill>
                  <a:schemeClr val="dk1"/>
                </a:solidFill>
              </a:rPr>
              <a:t>Zero-Shot Prompting</a:t>
            </a:r>
            <a:endParaRPr sz="2200">
              <a:solidFill>
                <a:schemeClr val="dk1"/>
              </a:solidFill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it-IT" sz="2200">
                <a:solidFill>
                  <a:schemeClr val="dk1"/>
                </a:solidFill>
              </a:rPr>
              <a:t>Models: </a:t>
            </a:r>
            <a:endParaRPr sz="2200">
              <a:solidFill>
                <a:schemeClr val="dk1"/>
              </a:solidFill>
            </a:endParaRPr>
          </a:p>
          <a:p>
            <a:pPr marL="68580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it-IT" sz="2200">
                <a:solidFill>
                  <a:schemeClr val="dk1"/>
                </a:solidFill>
              </a:rPr>
              <a:t>Comparison of 16 models</a:t>
            </a:r>
            <a:endParaRPr/>
          </a:p>
        </p:txBody>
      </p:sp>
      <p:sp>
        <p:nvSpPr>
          <p:cNvPr id="157" name="Google Shape;157;p18"/>
          <p:cNvSpPr/>
          <p:nvPr/>
        </p:nvSpPr>
        <p:spPr>
          <a:xfrm>
            <a:off x="1371600" y="2168025"/>
            <a:ext cx="4134600" cy="38544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>
                <a:solidFill>
                  <a:schemeClr val="dk1"/>
                </a:solidFill>
              </a:rPr>
              <a:t>Stage 1:</a:t>
            </a:r>
            <a:endParaRPr sz="260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it-IT" sz="2600" b="1">
                <a:solidFill>
                  <a:schemeClr val="dk1"/>
                </a:solidFill>
              </a:rPr>
              <a:t>Specialized OCR</a:t>
            </a:r>
            <a:endParaRPr sz="26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600">
              <a:solidFill>
                <a:schemeClr val="dk1"/>
              </a:solidFill>
            </a:endParaRPr>
          </a:p>
          <a:p>
            <a:pPr marL="685800" lvl="1" indent="-254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it-IT" sz="2200">
                <a:solidFill>
                  <a:schemeClr val="dk1"/>
                </a:solidFill>
              </a:rPr>
              <a:t>Tools:</a:t>
            </a:r>
            <a:endParaRPr sz="2200">
              <a:solidFill>
                <a:schemeClr val="dk1"/>
              </a:solidFill>
            </a:endParaRPr>
          </a:p>
          <a:p>
            <a:pPr marL="68580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it-IT" sz="2200">
                <a:solidFill>
                  <a:schemeClr val="dk1"/>
                </a:solidFill>
              </a:rPr>
              <a:t>OCR-D framework + Calamari Engine</a:t>
            </a:r>
            <a:endParaRPr sz="2400">
              <a:solidFill>
                <a:schemeClr val="dk1"/>
              </a:solidFill>
            </a:endParaRPr>
          </a:p>
          <a:p>
            <a:pPr marL="685800" lvl="1" indent="-254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it-IT" sz="2200">
                <a:solidFill>
                  <a:schemeClr val="dk1"/>
                </a:solidFill>
              </a:rPr>
              <a:t>Model: ‘deep3-fraktur19’</a:t>
            </a:r>
            <a:endParaRPr sz="2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9"/>
          <p:cNvSpPr/>
          <p:nvPr/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861"/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9"/>
          <p:cNvSpPr/>
          <p:nvPr/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20000">
                <a:srgbClr val="156082">
                  <a:alpha val="0"/>
                </a:srgbClr>
              </a:gs>
              <a:gs pos="100000">
                <a:srgbClr val="0A3041">
                  <a:alpha val="54901"/>
                </a:srgbClr>
              </a:gs>
            </a:gsLst>
            <a:lin ang="13800001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9"/>
          <p:cNvSpPr/>
          <p:nvPr/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rgbClr val="156082">
                  <a:alpha val="65882"/>
                </a:srgbClr>
              </a:gs>
              <a:gs pos="100000">
                <a:srgbClr val="000000">
                  <a:alpha val="29803"/>
                </a:srgbClr>
              </a:gs>
            </a:gsLst>
            <a:lin ang="13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9"/>
          <p:cNvSpPr/>
          <p:nvPr/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0A3041">
                  <a:alpha val="51764"/>
                </a:srgbClr>
              </a:gs>
              <a:gs pos="100000">
                <a:srgbClr val="0A3041">
                  <a:alpha val="51764"/>
                </a:srgbClr>
              </a:gs>
            </a:gsLst>
            <a:lin ang="16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9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Play"/>
              <a:buNone/>
            </a:pPr>
            <a:r>
              <a:rPr lang="it-IT" sz="5000">
                <a:solidFill>
                  <a:srgbClr val="FFFFFF"/>
                </a:solidFill>
              </a:rPr>
              <a:t>Stage 1 Results: The OCR Baseline</a:t>
            </a:r>
            <a:endParaRPr sz="5000">
              <a:solidFill>
                <a:srgbClr val="FFFFFF"/>
              </a:solidFill>
            </a:endParaRPr>
          </a:p>
        </p:txBody>
      </p:sp>
      <p:sp>
        <p:nvSpPr>
          <p:cNvPr id="169" name="Google Shape;169;p19"/>
          <p:cNvSpPr txBox="1"/>
          <p:nvPr/>
        </p:nvSpPr>
        <p:spPr>
          <a:xfrm>
            <a:off x="6601575" y="2363090"/>
            <a:ext cx="4191000" cy="5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it-IT" sz="2600">
                <a:solidFill>
                  <a:schemeClr val="dk1"/>
                </a:solidFill>
              </a:rPr>
              <a:t>New OCR-D Pipeline: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170" name="Google Shape;170;p19"/>
          <p:cNvSpPr txBox="1"/>
          <p:nvPr/>
        </p:nvSpPr>
        <p:spPr>
          <a:xfrm>
            <a:off x="1848600" y="5260575"/>
            <a:ext cx="8494800" cy="74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it-IT" sz="2600" b="1">
                <a:solidFill>
                  <a:schemeClr val="dk1"/>
                </a:solidFill>
              </a:rPr>
              <a:t>OCR improvement</a:t>
            </a:r>
            <a:r>
              <a:rPr lang="it-IT" sz="2600">
                <a:solidFill>
                  <a:schemeClr val="dk1"/>
                </a:solidFill>
              </a:rPr>
              <a:t>: ~75% in word errors before LLMs.</a:t>
            </a:r>
            <a:endParaRPr sz="2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</a:endParaRPr>
          </a:p>
        </p:txBody>
      </p:sp>
      <p:sp>
        <p:nvSpPr>
          <p:cNvPr id="171" name="Google Shape;171;p19"/>
          <p:cNvSpPr txBox="1"/>
          <p:nvPr/>
        </p:nvSpPr>
        <p:spPr>
          <a:xfrm>
            <a:off x="1238875" y="2363100"/>
            <a:ext cx="4191000" cy="5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</a:pPr>
            <a:r>
              <a:rPr lang="it-IT" sz="2600">
                <a:solidFill>
                  <a:schemeClr val="dk1"/>
                </a:solidFill>
              </a:rPr>
              <a:t>Original Commercial OCR: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172" name="Google Shape;172;p19"/>
          <p:cNvSpPr txBox="1"/>
          <p:nvPr/>
        </p:nvSpPr>
        <p:spPr>
          <a:xfrm>
            <a:off x="1238875" y="2986263"/>
            <a:ext cx="3618300" cy="10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>
                <a:solidFill>
                  <a:schemeClr val="dk1"/>
                </a:solidFill>
              </a:rPr>
              <a:t>CER: 8.24%</a:t>
            </a:r>
            <a:endParaRPr sz="2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>
                <a:solidFill>
                  <a:schemeClr val="dk1"/>
                </a:solidFill>
              </a:rPr>
              <a:t>WER: 18.75%</a:t>
            </a:r>
            <a:endParaRPr sz="2600">
              <a:solidFill>
                <a:schemeClr val="dk1"/>
              </a:solidFill>
            </a:endParaRPr>
          </a:p>
        </p:txBody>
      </p:sp>
      <p:sp>
        <p:nvSpPr>
          <p:cNvPr id="173" name="Google Shape;173;p19"/>
          <p:cNvSpPr txBox="1"/>
          <p:nvPr/>
        </p:nvSpPr>
        <p:spPr>
          <a:xfrm>
            <a:off x="6601575" y="2986275"/>
            <a:ext cx="3618300" cy="10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>
                <a:solidFill>
                  <a:schemeClr val="dk1"/>
                </a:solidFill>
              </a:rPr>
              <a:t>CER: 2.89%</a:t>
            </a:r>
            <a:endParaRPr sz="2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>
                <a:solidFill>
                  <a:schemeClr val="dk1"/>
                </a:solidFill>
              </a:rPr>
              <a:t>WER: 4.57%</a:t>
            </a:r>
            <a:endParaRPr sz="2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0"/>
          <p:cNvSpPr/>
          <p:nvPr/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861"/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0"/>
          <p:cNvSpPr/>
          <p:nvPr/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20000">
                <a:srgbClr val="156082">
                  <a:alpha val="0"/>
                </a:srgbClr>
              </a:gs>
              <a:gs pos="100000">
                <a:srgbClr val="0A3041">
                  <a:alpha val="54901"/>
                </a:srgbClr>
              </a:gs>
            </a:gsLst>
            <a:lin ang="13800001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0"/>
          <p:cNvSpPr/>
          <p:nvPr/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rgbClr val="156082">
                  <a:alpha val="65882"/>
                </a:srgbClr>
              </a:gs>
              <a:gs pos="100000">
                <a:srgbClr val="000000">
                  <a:alpha val="29803"/>
                </a:srgbClr>
              </a:gs>
            </a:gsLst>
            <a:lin ang="13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0A3041">
                  <a:alpha val="51764"/>
                </a:srgbClr>
              </a:gs>
              <a:gs pos="100000">
                <a:srgbClr val="0A3041">
                  <a:alpha val="51764"/>
                </a:srgbClr>
              </a:gs>
            </a:gsLst>
            <a:lin ang="16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0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Play"/>
              <a:buNone/>
            </a:pPr>
            <a:r>
              <a:rPr lang="it-IT" sz="5000">
                <a:solidFill>
                  <a:srgbClr val="FFFFFF"/>
                </a:solidFill>
              </a:rPr>
              <a:t>Stage 1 Results: The OCR Baseline</a:t>
            </a:r>
            <a:endParaRPr sz="5000">
              <a:solidFill>
                <a:srgbClr val="FFFFFF"/>
              </a:solidFill>
            </a:endParaRPr>
          </a:p>
        </p:txBody>
      </p:sp>
      <p:pic>
        <p:nvPicPr>
          <p:cNvPr id="184" name="Google Shape;184;p20" descr="Immagine che contiene testo, diagramma, schermata, linea&#10;&#10;Il contenuto generato dall'IA potrebbe non essere corretto.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789605" y="1597432"/>
            <a:ext cx="6612786" cy="52902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1"/>
          <p:cNvSpPr/>
          <p:nvPr/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861"/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21"/>
          <p:cNvSpPr/>
          <p:nvPr/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20000">
                <a:srgbClr val="156082">
                  <a:alpha val="0"/>
                </a:srgbClr>
              </a:gs>
              <a:gs pos="100000">
                <a:srgbClr val="0A3041">
                  <a:alpha val="54901"/>
                </a:srgbClr>
              </a:gs>
            </a:gsLst>
            <a:lin ang="13800001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1"/>
          <p:cNvSpPr/>
          <p:nvPr/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rgbClr val="156082">
                  <a:alpha val="65882"/>
                </a:srgbClr>
              </a:gs>
              <a:gs pos="100000">
                <a:srgbClr val="000000">
                  <a:alpha val="29803"/>
                </a:srgbClr>
              </a:gs>
            </a:gsLst>
            <a:lin ang="13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1"/>
          <p:cNvSpPr/>
          <p:nvPr/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0A3041">
                  <a:alpha val="51764"/>
                </a:srgbClr>
              </a:gs>
              <a:gs pos="100000">
                <a:srgbClr val="0A3041">
                  <a:alpha val="51764"/>
                </a:srgbClr>
              </a:gs>
            </a:gsLst>
            <a:lin ang="16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1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Play"/>
              <a:buNone/>
            </a:pPr>
            <a:r>
              <a:rPr lang="it-IT" sz="5000">
                <a:solidFill>
                  <a:srgbClr val="FFFFFF"/>
                </a:solidFill>
              </a:rPr>
              <a:t>The Remaining Challenge:</a:t>
            </a:r>
            <a:endParaRPr sz="50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Play"/>
              <a:buNone/>
            </a:pPr>
            <a:r>
              <a:rPr lang="it-IT" sz="5000">
                <a:solidFill>
                  <a:srgbClr val="FFFFFF"/>
                </a:solidFill>
              </a:rPr>
              <a:t>Residual Errors</a:t>
            </a:r>
            <a:endParaRPr sz="5000">
              <a:solidFill>
                <a:srgbClr val="FFFFFF"/>
              </a:solidFill>
            </a:endParaRPr>
          </a:p>
        </p:txBody>
      </p:sp>
      <p:sp>
        <p:nvSpPr>
          <p:cNvPr id="196" name="Google Shape;196;p21"/>
          <p:cNvSpPr txBox="1">
            <a:spLocks noGrp="1"/>
          </p:cNvSpPr>
          <p:nvPr>
            <p:ph type="body" idx="1"/>
          </p:nvPr>
        </p:nvSpPr>
        <p:spPr>
          <a:xfrm>
            <a:off x="1371599" y="2318197"/>
            <a:ext cx="9724031" cy="3683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it-IT" sz="2600" b="1"/>
              <a:t>Visual Errors:</a:t>
            </a:r>
            <a:r>
              <a:rPr lang="it-IT" sz="2600"/>
              <a:t> ‘Hauf’ instead of ‘Haus’ (f/long-s confusion).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it-IT" sz="2600" b="1"/>
              <a:t>Segmentation Issues:</a:t>
            </a:r>
            <a:r>
              <a:rPr lang="it-IT" sz="2600"/>
              <a:t> Broken words at line ends.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it-IT" sz="2600" b="1"/>
              <a:t>Context Failures:</a:t>
            </a:r>
            <a:r>
              <a:rPr lang="it-IT" sz="2600"/>
              <a:t> Valid words in wrong contexts (e.g. ‘die’ vs ‘das’).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endParaRPr sz="26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it-IT" sz="2600" b="1"/>
              <a:t>Goal: </a:t>
            </a:r>
            <a:r>
              <a:rPr lang="it-IT" sz="2600"/>
              <a:t>Use LLMs to fix these semantic and visual anomalies.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2"/>
          <p:cNvSpPr/>
          <p:nvPr/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0F4861"/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2"/>
          <p:cNvSpPr/>
          <p:nvPr/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0">
                <a:srgbClr val="0A3041">
                  <a:alpha val="67843"/>
                </a:srgbClr>
              </a:gs>
              <a:gs pos="19000">
                <a:srgbClr val="0A3041">
                  <a:alpha val="67843"/>
                </a:srgbClr>
              </a:gs>
              <a:gs pos="100000">
                <a:srgbClr val="156082">
                  <a:alpha val="78823"/>
                </a:srgbClr>
              </a:gs>
            </a:gsLst>
            <a:lin ang="191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2"/>
          <p:cNvSpPr/>
          <p:nvPr/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23000">
                <a:srgbClr val="156082">
                  <a:alpha val="0"/>
                </a:srgbClr>
              </a:gs>
              <a:gs pos="99000">
                <a:srgbClr val="000000">
                  <a:alpha val="73725"/>
                </a:srgbClr>
              </a:gs>
              <a:gs pos="100000">
                <a:srgbClr val="000000">
                  <a:alpha val="73725"/>
                </a:srgbClr>
              </a:gs>
            </a:gsLst>
            <a:lin ang="203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2"/>
          <p:cNvSpPr txBox="1"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Play"/>
              <a:buNone/>
            </a:pPr>
            <a:r>
              <a:rPr lang="it-IT" sz="5000">
                <a:solidFill>
                  <a:srgbClr val="FFFFFF"/>
                </a:solidFill>
              </a:rPr>
              <a:t>LLM Post-Correction Setup</a:t>
            </a:r>
            <a:endParaRPr/>
          </a:p>
        </p:txBody>
      </p:sp>
      <p:grpSp>
        <p:nvGrpSpPr>
          <p:cNvPr id="205" name="Google Shape;205;p22"/>
          <p:cNvGrpSpPr/>
          <p:nvPr/>
        </p:nvGrpSpPr>
        <p:grpSpPr>
          <a:xfrm>
            <a:off x="645638" y="2697176"/>
            <a:ext cx="10924663" cy="3023609"/>
            <a:chOff x="1582" y="584597"/>
            <a:chExt cx="10924663" cy="3023609"/>
          </a:xfrm>
        </p:grpSpPr>
        <p:sp>
          <p:nvSpPr>
            <p:cNvPr id="206" name="Google Shape;206;p22"/>
            <p:cNvSpPr/>
            <p:nvPr/>
          </p:nvSpPr>
          <p:spPr>
            <a:xfrm>
              <a:off x="1061437" y="584597"/>
              <a:ext cx="1141382" cy="1141382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22"/>
            <p:cNvSpPr/>
            <p:nvPr/>
          </p:nvSpPr>
          <p:spPr>
            <a:xfrm>
              <a:off x="1582" y="1855995"/>
              <a:ext cx="3261093" cy="4891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22"/>
            <p:cNvSpPr txBox="1"/>
            <p:nvPr/>
          </p:nvSpPr>
          <p:spPr>
            <a:xfrm>
              <a:off x="1594" y="1855997"/>
              <a:ext cx="3261000" cy="100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None/>
              </a:pPr>
              <a:r>
                <a:rPr lang="it-IT" sz="22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Method: </a:t>
              </a:r>
              <a:endParaRPr sz="2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700"/>
                <a:buFont typeface="Arial"/>
                <a:buNone/>
              </a:pPr>
              <a:r>
                <a:rPr lang="it-IT" sz="22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Zero-Shot Prompting (Expert Editor Persona)</a:t>
              </a:r>
              <a:endPara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22"/>
            <p:cNvSpPr/>
            <p:nvPr/>
          </p:nvSpPr>
          <p:spPr>
            <a:xfrm>
              <a:off x="1582" y="2405631"/>
              <a:ext cx="3261093" cy="12025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22"/>
            <p:cNvSpPr/>
            <p:nvPr/>
          </p:nvSpPr>
          <p:spPr>
            <a:xfrm>
              <a:off x="7665152" y="2405631"/>
              <a:ext cx="3261093" cy="12025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22"/>
            <p:cNvSpPr txBox="1"/>
            <p:nvPr/>
          </p:nvSpPr>
          <p:spPr>
            <a:xfrm>
              <a:off x="7083344" y="811965"/>
              <a:ext cx="3261000" cy="1008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Arial"/>
                <a:buNone/>
              </a:pPr>
              <a:r>
                <a:rPr lang="it-IT" sz="2200" b="1" i="0" u="none" strike="noStrike" cap="none">
                  <a:solidFill>
                    <a:schemeClr val="dk1"/>
                  </a:solidFill>
                </a:rPr>
                <a:t>Proprietary:</a:t>
              </a:r>
              <a:endParaRPr sz="2200" b="1"/>
            </a:p>
            <a:p>
              <a:pPr marL="0" marR="0" lvl="0" indent="0" algn="ctr" rtl="0">
                <a:lnSpc>
                  <a:spcPct val="90000"/>
                </a:lnSpc>
                <a:spcBef>
                  <a:spcPts val="455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Arial"/>
                <a:buNone/>
              </a:pPr>
              <a:r>
                <a:rPr lang="it-IT" sz="2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GPT-5, Gemini 2.0/2.5, DeepSeek V3/R1</a:t>
              </a:r>
              <a:endPara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2" name="Google Shape;212;p22"/>
          <p:cNvSpPr/>
          <p:nvPr/>
        </p:nvSpPr>
        <p:spPr>
          <a:xfrm>
            <a:off x="5899350" y="3190475"/>
            <a:ext cx="1819200" cy="656400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4375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22"/>
          <p:cNvSpPr/>
          <p:nvPr/>
        </p:nvSpPr>
        <p:spPr>
          <a:xfrm rot="10800000" flipH="1">
            <a:off x="5899350" y="4363175"/>
            <a:ext cx="1819200" cy="656400"/>
          </a:xfrm>
          <a:prstGeom prst="bentArrow">
            <a:avLst>
              <a:gd name="adj1" fmla="val 25000"/>
              <a:gd name="adj2" fmla="val 25000"/>
              <a:gd name="adj3" fmla="val 25000"/>
              <a:gd name="adj4" fmla="val 4375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22"/>
          <p:cNvSpPr txBox="1"/>
          <p:nvPr/>
        </p:nvSpPr>
        <p:spPr>
          <a:xfrm>
            <a:off x="7993650" y="4363175"/>
            <a:ext cx="2728500" cy="10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45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it-IT" sz="2200" b="1">
                <a:solidFill>
                  <a:schemeClr val="dk1"/>
                </a:solidFill>
              </a:rPr>
              <a:t>Open Weights:</a:t>
            </a:r>
            <a:r>
              <a:rPr lang="it-IT" sz="2200">
                <a:solidFill>
                  <a:schemeClr val="dk1"/>
                </a:solidFill>
              </a:rPr>
              <a:t> </a:t>
            </a:r>
            <a:endParaRPr sz="2200">
              <a:solidFill>
                <a:schemeClr val="dk1"/>
              </a:solidFill>
            </a:endParaRPr>
          </a:p>
          <a:p>
            <a:pPr marL="0" lvl="0" indent="0" algn="ctr" rtl="0">
              <a:lnSpc>
                <a:spcPct val="90000"/>
              </a:lnSpc>
              <a:spcBef>
                <a:spcPts val="45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lang="it-IT" sz="2200">
                <a:solidFill>
                  <a:schemeClr val="dk1"/>
                </a:solidFill>
              </a:rPr>
              <a:t>Llama 3.1, Qwen 2.5/3, Gemma 3</a:t>
            </a:r>
            <a:endParaRPr sz="2200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</a:endParaRPr>
          </a:p>
        </p:txBody>
      </p:sp>
      <p:sp>
        <p:nvSpPr>
          <p:cNvPr id="215" name="Google Shape;215;p22"/>
          <p:cNvSpPr/>
          <p:nvPr/>
        </p:nvSpPr>
        <p:spPr>
          <a:xfrm>
            <a:off x="5149625" y="3846875"/>
            <a:ext cx="1610100" cy="5163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200">
                <a:solidFill>
                  <a:schemeClr val="dk1"/>
                </a:solidFill>
              </a:rPr>
              <a:t>16 Models</a:t>
            </a:r>
            <a:endParaRPr sz="22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3"/>
          <p:cNvSpPr/>
          <p:nvPr/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861"/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3"/>
          <p:cNvSpPr/>
          <p:nvPr/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20000">
                <a:srgbClr val="156082">
                  <a:alpha val="0"/>
                </a:srgbClr>
              </a:gs>
              <a:gs pos="100000">
                <a:srgbClr val="0A3041">
                  <a:alpha val="54901"/>
                </a:srgbClr>
              </a:gs>
            </a:gsLst>
            <a:lin ang="13800001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3"/>
          <p:cNvSpPr/>
          <p:nvPr/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rgbClr val="156082">
                  <a:alpha val="65882"/>
                </a:srgbClr>
              </a:gs>
              <a:gs pos="100000">
                <a:srgbClr val="000000">
                  <a:alpha val="29803"/>
                </a:srgbClr>
              </a:gs>
            </a:gsLst>
            <a:lin ang="13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3"/>
          <p:cNvSpPr/>
          <p:nvPr/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0A3041">
                  <a:alpha val="51764"/>
                </a:srgbClr>
              </a:gs>
              <a:gs pos="100000">
                <a:srgbClr val="0A3041">
                  <a:alpha val="51764"/>
                </a:srgbClr>
              </a:gs>
            </a:gsLst>
            <a:lin ang="16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3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Play"/>
              <a:buNone/>
            </a:pPr>
            <a:r>
              <a:rPr lang="it-IT" sz="5000">
                <a:solidFill>
                  <a:srgbClr val="FFFFFF"/>
                </a:solidFill>
              </a:rPr>
              <a:t>System Prompt Design</a:t>
            </a:r>
            <a:endParaRPr/>
          </a:p>
        </p:txBody>
      </p:sp>
      <p:sp>
        <p:nvSpPr>
          <p:cNvPr id="226" name="Google Shape;226;p23"/>
          <p:cNvSpPr/>
          <p:nvPr/>
        </p:nvSpPr>
        <p:spPr>
          <a:xfrm>
            <a:off x="941217" y="2084475"/>
            <a:ext cx="7015667" cy="410958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You are an expert of 18th century german correcting OCRed texts, written in Fraktur.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I will provide you a part of an OCRed text.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It could have some errors.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Only if necessary, you have to correct it but preserving the text as much as possible.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0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Consider that </a:t>
            </a:r>
            <a:r>
              <a:rPr lang="it-IT" sz="2000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so</a:t>
            </a:r>
            <a:r>
              <a:rPr lang="it-IT" sz="2000" b="0" i="0" u="none" strike="noStrike" cap="none">
                <a:solidFill>
                  <a:schemeClr val="lt1"/>
                </a:solidFill>
                <a:latin typeface="Consolas"/>
                <a:ea typeface="Consolas"/>
                <a:cs typeface="Consolas"/>
                <a:sym typeface="Consolas"/>
              </a:rPr>
              <a:t>me characters or words without any sense could be introduced by scanning errors:</a:t>
            </a:r>
            <a:endParaRPr sz="2000" b="0" i="0" u="none" strike="noStrike" cap="none">
              <a:solidFill>
                <a:schemeClr val="lt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27" name="Google Shape;227;p23"/>
          <p:cNvSpPr/>
          <p:nvPr/>
        </p:nvSpPr>
        <p:spPr>
          <a:xfrm>
            <a:off x="7792453" y="2853176"/>
            <a:ext cx="1438522" cy="529389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892DC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3"/>
          <p:cNvSpPr/>
          <p:nvPr/>
        </p:nvSpPr>
        <p:spPr>
          <a:xfrm>
            <a:off x="7792453" y="4042827"/>
            <a:ext cx="1438522" cy="529389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892DC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3"/>
          <p:cNvSpPr/>
          <p:nvPr/>
        </p:nvSpPr>
        <p:spPr>
          <a:xfrm>
            <a:off x="7792453" y="5080432"/>
            <a:ext cx="1438522" cy="529389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4892DC"/>
          </a:solidFill>
          <a:ln w="19050" cap="flat" cmpd="sng">
            <a:solidFill>
              <a:srgbClr val="08283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3"/>
          <p:cNvSpPr txBox="1"/>
          <p:nvPr/>
        </p:nvSpPr>
        <p:spPr>
          <a:xfrm>
            <a:off x="9590875" y="2702366"/>
            <a:ext cx="19248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System Role</a:t>
            </a:r>
            <a:endParaRPr sz="2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3"/>
          <p:cNvSpPr txBox="1"/>
          <p:nvPr/>
        </p:nvSpPr>
        <p:spPr>
          <a:xfrm>
            <a:off x="9590875" y="3892035"/>
            <a:ext cx="25716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Task Instructions</a:t>
            </a:r>
            <a:endParaRPr sz="24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3"/>
          <p:cNvSpPr txBox="1"/>
          <p:nvPr/>
        </p:nvSpPr>
        <p:spPr>
          <a:xfrm>
            <a:off x="9590875" y="4929631"/>
            <a:ext cx="23199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Noise Handling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4"/>
          <p:cNvSpPr/>
          <p:nvPr/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861"/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4"/>
          <p:cNvSpPr/>
          <p:nvPr/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20000">
                <a:srgbClr val="156082">
                  <a:alpha val="0"/>
                </a:srgbClr>
              </a:gs>
              <a:gs pos="100000">
                <a:srgbClr val="0A3041">
                  <a:alpha val="54901"/>
                </a:srgbClr>
              </a:gs>
            </a:gsLst>
            <a:lin ang="13800001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4"/>
          <p:cNvSpPr/>
          <p:nvPr/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rgbClr val="156082">
                  <a:alpha val="65882"/>
                </a:srgbClr>
              </a:gs>
              <a:gs pos="100000">
                <a:srgbClr val="000000">
                  <a:alpha val="29803"/>
                </a:srgbClr>
              </a:gs>
            </a:gsLst>
            <a:lin ang="13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4"/>
          <p:cNvSpPr/>
          <p:nvPr/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0A3041">
                  <a:alpha val="51764"/>
                </a:srgbClr>
              </a:gs>
              <a:gs pos="100000">
                <a:srgbClr val="0A3041">
                  <a:alpha val="51764"/>
                </a:srgbClr>
              </a:gs>
            </a:gsLst>
            <a:lin ang="16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4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Play"/>
              <a:buNone/>
            </a:pPr>
            <a:r>
              <a:rPr lang="it-IT" sz="5000">
                <a:solidFill>
                  <a:srgbClr val="FFFFFF"/>
                </a:solidFill>
              </a:rPr>
              <a:t>Post-Correction Results: </a:t>
            </a:r>
            <a:endParaRPr sz="5000">
              <a:solidFill>
                <a:srgbClr val="FFFFFF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Play"/>
              <a:buNone/>
            </a:pPr>
            <a:r>
              <a:rPr lang="it-IT" sz="5000">
                <a:solidFill>
                  <a:srgbClr val="FFFFFF"/>
                </a:solidFill>
              </a:rPr>
              <a:t>The Bifurcation</a:t>
            </a:r>
            <a:endParaRPr sz="5000">
              <a:solidFill>
                <a:srgbClr val="FFFFFF"/>
              </a:solidFill>
            </a:endParaRPr>
          </a:p>
        </p:txBody>
      </p:sp>
      <p:sp>
        <p:nvSpPr>
          <p:cNvPr id="243" name="Google Shape;243;p24"/>
          <p:cNvSpPr txBox="1">
            <a:spLocks noGrp="1"/>
          </p:cNvSpPr>
          <p:nvPr>
            <p:ph type="body" idx="1"/>
          </p:nvPr>
        </p:nvSpPr>
        <p:spPr>
          <a:xfrm>
            <a:off x="1371599" y="2318197"/>
            <a:ext cx="9724031" cy="36833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it-IT" sz="2600" b="1"/>
              <a:t>The Enhancers</a:t>
            </a:r>
            <a:r>
              <a:rPr lang="it-IT" sz="2600"/>
              <a:t> (Positive RER):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it-IT" sz="2600"/>
              <a:t>   Reduced errors by 60-75%.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it-IT" sz="2600"/>
              <a:t>   Respected archaic constraints.</a:t>
            </a:r>
            <a:endParaRPr/>
          </a:p>
          <a:p>
            <a:pPr marL="228600" lvl="0" indent="-63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endParaRPr sz="26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it-IT" sz="2600" b="1"/>
              <a:t>The Regressors</a:t>
            </a:r>
            <a:r>
              <a:rPr lang="it-IT" sz="2600"/>
              <a:t> (Negative RER):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it-IT" sz="2600"/>
              <a:t>   Increased errors (sometimes by &gt;100%).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it-IT" sz="2600"/>
              <a:t>   Hallucinated or aggressively modernized text.</a:t>
            </a:r>
            <a:endParaRPr sz="2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5"/>
          <p:cNvSpPr/>
          <p:nvPr/>
        </p:nvSpPr>
        <p:spPr>
          <a:xfrm rot="5400000" flipH="1">
            <a:off x="-909075" y="909900"/>
            <a:ext cx="6858000" cy="5038200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0F4861"/>
              </a:gs>
            </a:gsLst>
            <a:lin ang="3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5"/>
          <p:cNvSpPr/>
          <p:nvPr/>
        </p:nvSpPr>
        <p:spPr>
          <a:xfrm rot="5400000" flipH="1">
            <a:off x="-774477" y="776350"/>
            <a:ext cx="6346200" cy="48138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156082">
                  <a:alpha val="0"/>
                </a:srgbClr>
              </a:gs>
              <a:gs pos="100000">
                <a:srgbClr val="156082">
                  <a:alpha val="0"/>
                </a:srgbClr>
              </a:gs>
            </a:gsLst>
            <a:lin ang="1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5"/>
          <p:cNvSpPr/>
          <p:nvPr/>
        </p:nvSpPr>
        <p:spPr>
          <a:xfrm rot="5400000" flipH="1">
            <a:off x="1258300" y="3089550"/>
            <a:ext cx="2502000" cy="5034900"/>
          </a:xfrm>
          <a:prstGeom prst="rect">
            <a:avLst/>
          </a:prstGeom>
          <a:gradFill>
            <a:gsLst>
              <a:gs pos="0">
                <a:srgbClr val="156082">
                  <a:alpha val="28627"/>
                </a:srgbClr>
              </a:gs>
              <a:gs pos="2000">
                <a:srgbClr val="156082">
                  <a:alpha val="28627"/>
                </a:srgbClr>
              </a:gs>
              <a:gs pos="100000">
                <a:srgbClr val="000000">
                  <a:alpha val="29803"/>
                </a:srgbClr>
              </a:gs>
            </a:gsLst>
            <a:lin ang="7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5"/>
          <p:cNvSpPr/>
          <p:nvPr/>
        </p:nvSpPr>
        <p:spPr>
          <a:xfrm rot="5400000" flipH="1">
            <a:off x="-695625" y="1123350"/>
            <a:ext cx="6858000" cy="46113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156082">
                  <a:alpha val="10980"/>
                </a:srgbClr>
              </a:gs>
              <a:gs pos="100000">
                <a:srgbClr val="156082">
                  <a:alpha val="10980"/>
                </a:srgbClr>
              </a:gs>
            </a:gsLst>
            <a:lin ang="7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5"/>
          <p:cNvSpPr/>
          <p:nvPr/>
        </p:nvSpPr>
        <p:spPr>
          <a:xfrm rot="6097846">
            <a:off x="818682" y="1128490"/>
            <a:ext cx="4318368" cy="4318368"/>
          </a:xfrm>
          <a:prstGeom prst="ellipse">
            <a:avLst/>
          </a:prstGeom>
          <a:gradFill>
            <a:gsLst>
              <a:gs pos="0">
                <a:srgbClr val="156082">
                  <a:alpha val="0"/>
                </a:srgbClr>
              </a:gs>
              <a:gs pos="39000">
                <a:srgbClr val="156082">
                  <a:alpha val="0"/>
                </a:srgbClr>
              </a:gs>
              <a:gs pos="100000">
                <a:srgbClr val="43AFE2">
                  <a:alpha val="14901"/>
                </a:srgbClr>
              </a:gs>
            </a:gsLst>
            <a:lin ang="17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25"/>
          <p:cNvSpPr txBox="1">
            <a:spLocks noGrp="1"/>
          </p:cNvSpPr>
          <p:nvPr>
            <p:ph type="title"/>
          </p:nvPr>
        </p:nvSpPr>
        <p:spPr>
          <a:xfrm>
            <a:off x="-251199" y="586850"/>
            <a:ext cx="5307900" cy="3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Play"/>
              <a:buNone/>
            </a:pPr>
            <a:r>
              <a:rPr lang="it-IT" sz="5000">
                <a:solidFill>
                  <a:srgbClr val="FFFFFF"/>
                </a:solidFill>
              </a:rPr>
              <a:t>The Enhancer (Top Performers)</a:t>
            </a:r>
            <a:endParaRPr/>
          </a:p>
        </p:txBody>
      </p:sp>
      <p:sp>
        <p:nvSpPr>
          <p:cNvPr id="255" name="Google Shape;255;p25"/>
          <p:cNvSpPr txBox="1">
            <a:spLocks noGrp="1"/>
          </p:cNvSpPr>
          <p:nvPr>
            <p:ph type="body" idx="1"/>
          </p:nvPr>
        </p:nvSpPr>
        <p:spPr>
          <a:xfrm>
            <a:off x="5764150" y="649475"/>
            <a:ext cx="6136800" cy="55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lnSpcReduction="10000"/>
          </a:bodyPr>
          <a:lstStyle/>
          <a:p>
            <a:pPr marL="457200" lvl="0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it-IT" sz="2600" b="1"/>
              <a:t>DeepSeek V3: </a:t>
            </a:r>
            <a:endParaRPr sz="2600" b="1"/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/>
              <a:t>75.1% WER Reduction (Best Overall)</a:t>
            </a:r>
            <a:endParaRPr sz="2600"/>
          </a:p>
          <a:p>
            <a:pPr marL="4572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/>
          </a:p>
          <a:p>
            <a:pPr marL="457200" lvl="0" indent="-393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600"/>
              <a:buAutoNum type="arabicPeriod"/>
            </a:pPr>
            <a:r>
              <a:rPr lang="it-IT" sz="2600" b="1"/>
              <a:t>GPT-5: </a:t>
            </a:r>
            <a:endParaRPr sz="2600" b="1"/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it-IT" sz="2600"/>
              <a:t>70.7% WER Reduction</a:t>
            </a:r>
            <a:endParaRPr sz="2600"/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600"/>
          </a:p>
          <a:p>
            <a:pPr marL="457200" lvl="0" indent="-393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600"/>
              <a:buAutoNum type="arabicPeriod"/>
            </a:pPr>
            <a:r>
              <a:rPr lang="it-IT" sz="2600" b="1"/>
              <a:t>Gemini 2.0 Flash: </a:t>
            </a:r>
            <a:endParaRPr sz="2600" b="1"/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it-IT" sz="2600"/>
              <a:t>68.4% WER Reduction</a:t>
            </a:r>
            <a:endParaRPr/>
          </a:p>
          <a:p>
            <a:pPr marL="228600" lvl="0" indent="-63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endParaRPr sz="2600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it-IT" sz="2600" b="1"/>
              <a:t>Key Success</a:t>
            </a:r>
            <a:r>
              <a:rPr lang="it-IT" sz="2600"/>
              <a:t>: Able to de-scramble noisy border text where OCR failed completely.</a:t>
            </a:r>
            <a:endParaRPr sz="2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6"/>
          <p:cNvSpPr/>
          <p:nvPr/>
        </p:nvSpPr>
        <p:spPr>
          <a:xfrm rot="5400000" flipH="1">
            <a:off x="-902926" y="903750"/>
            <a:ext cx="6858000" cy="5050500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0F4861"/>
              </a:gs>
            </a:gsLst>
            <a:lin ang="3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6"/>
          <p:cNvSpPr/>
          <p:nvPr/>
        </p:nvSpPr>
        <p:spPr>
          <a:xfrm rot="5400000" flipH="1">
            <a:off x="-657674" y="659650"/>
            <a:ext cx="6346200" cy="50472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156082">
                  <a:alpha val="0"/>
                </a:srgbClr>
              </a:gs>
              <a:gs pos="100000">
                <a:srgbClr val="156082">
                  <a:alpha val="0"/>
                </a:srgbClr>
              </a:gs>
            </a:gsLst>
            <a:lin ang="1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6"/>
          <p:cNvSpPr/>
          <p:nvPr/>
        </p:nvSpPr>
        <p:spPr>
          <a:xfrm rot="5400000" flipH="1">
            <a:off x="1264426" y="3083400"/>
            <a:ext cx="2502000" cy="5047200"/>
          </a:xfrm>
          <a:prstGeom prst="rect">
            <a:avLst/>
          </a:prstGeom>
          <a:gradFill>
            <a:gsLst>
              <a:gs pos="0">
                <a:srgbClr val="156082">
                  <a:alpha val="28627"/>
                </a:srgbClr>
              </a:gs>
              <a:gs pos="2000">
                <a:srgbClr val="156082">
                  <a:alpha val="28627"/>
                </a:srgbClr>
              </a:gs>
              <a:gs pos="100000">
                <a:srgbClr val="000000">
                  <a:alpha val="29803"/>
                </a:srgbClr>
              </a:gs>
            </a:gsLst>
            <a:lin ang="7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6"/>
          <p:cNvSpPr/>
          <p:nvPr/>
        </p:nvSpPr>
        <p:spPr>
          <a:xfrm rot="5400000" flipH="1">
            <a:off x="-701751" y="1129500"/>
            <a:ext cx="6858000" cy="45990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156082">
                  <a:alpha val="10980"/>
                </a:srgbClr>
              </a:gs>
              <a:gs pos="100000">
                <a:srgbClr val="156082">
                  <a:alpha val="10980"/>
                </a:srgbClr>
              </a:gs>
            </a:gsLst>
            <a:lin ang="7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6"/>
          <p:cNvSpPr/>
          <p:nvPr/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0">
                <a:srgbClr val="156082">
                  <a:alpha val="0"/>
                </a:srgbClr>
              </a:gs>
              <a:gs pos="39000">
                <a:srgbClr val="156082">
                  <a:alpha val="0"/>
                </a:srgbClr>
              </a:gs>
              <a:gs pos="100000">
                <a:srgbClr val="43AFE2">
                  <a:alpha val="14901"/>
                </a:srgbClr>
              </a:gs>
            </a:gsLst>
            <a:lin ang="17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26"/>
          <p:cNvSpPr txBox="1">
            <a:spLocks noGrp="1"/>
          </p:cNvSpPr>
          <p:nvPr>
            <p:ph type="title"/>
          </p:nvPr>
        </p:nvSpPr>
        <p:spPr>
          <a:xfrm>
            <a:off x="100201" y="586850"/>
            <a:ext cx="4956300" cy="3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Play"/>
              <a:buNone/>
            </a:pPr>
            <a:r>
              <a:rPr lang="it-IT" sz="5000">
                <a:solidFill>
                  <a:srgbClr val="FFFFFF"/>
                </a:solidFill>
              </a:rPr>
              <a:t>The Regressors</a:t>
            </a:r>
            <a:endParaRPr sz="5000">
              <a:solidFill>
                <a:srgbClr val="FFFFFF"/>
              </a:solidFill>
            </a:endParaRPr>
          </a:p>
        </p:txBody>
      </p:sp>
      <p:sp>
        <p:nvSpPr>
          <p:cNvPr id="267" name="Google Shape;267;p26"/>
          <p:cNvSpPr txBox="1">
            <a:spLocks noGrp="1"/>
          </p:cNvSpPr>
          <p:nvPr>
            <p:ph type="body" idx="1"/>
          </p:nvPr>
        </p:nvSpPr>
        <p:spPr>
          <a:xfrm>
            <a:off x="5751875" y="649475"/>
            <a:ext cx="6294300" cy="55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457200" lvl="0" indent="-3937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•"/>
            </a:pPr>
            <a:r>
              <a:rPr lang="it-IT" sz="2600" b="1"/>
              <a:t>Llama 3.1</a:t>
            </a:r>
            <a:r>
              <a:rPr lang="it-IT" sz="2600"/>
              <a:t> (8B):</a:t>
            </a:r>
            <a:endParaRPr sz="2600"/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/>
              <a:t>Catastrophic failure (-119% RER)</a:t>
            </a:r>
            <a:endParaRPr/>
          </a:p>
          <a:p>
            <a:pPr marL="457200" lvl="0" indent="-393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600"/>
              <a:buChar char="•"/>
            </a:pPr>
            <a:r>
              <a:rPr lang="it-IT" sz="2600" b="1"/>
              <a:t>Qwen 2.5</a:t>
            </a:r>
            <a:r>
              <a:rPr lang="it-IT" sz="2600"/>
              <a:t> (14B &amp; 72B):</a:t>
            </a:r>
            <a:endParaRPr sz="2600"/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it-IT" sz="2600"/>
              <a:t>Significant regression (up to 41.5%)</a:t>
            </a:r>
            <a:endParaRPr/>
          </a:p>
          <a:p>
            <a:pPr marL="228600" lvl="0" indent="-63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endParaRPr sz="26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it-IT" sz="2600" b="1"/>
              <a:t>Over-alignment</a:t>
            </a:r>
            <a:r>
              <a:rPr lang="it-IT" sz="2600"/>
              <a:t>: Trained to be ‘helpful assistants’, they aggressively fixed valid 19th-century spelling.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it-IT" sz="2600" b="1"/>
              <a:t>Hallucinations</a:t>
            </a:r>
            <a:r>
              <a:rPr lang="it-IT" sz="2600"/>
              <a:t>: Invented new sentences when confused by layout noise.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7"/>
          <p:cNvSpPr/>
          <p:nvPr/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861"/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7"/>
          <p:cNvSpPr/>
          <p:nvPr/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20000">
                <a:srgbClr val="156082">
                  <a:alpha val="0"/>
                </a:srgbClr>
              </a:gs>
              <a:gs pos="100000">
                <a:srgbClr val="0A3041">
                  <a:alpha val="54901"/>
                </a:srgbClr>
              </a:gs>
            </a:gsLst>
            <a:lin ang="13800001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27"/>
          <p:cNvSpPr/>
          <p:nvPr/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rgbClr val="156082">
                  <a:alpha val="65882"/>
                </a:srgbClr>
              </a:gs>
              <a:gs pos="100000">
                <a:srgbClr val="000000">
                  <a:alpha val="29803"/>
                </a:srgbClr>
              </a:gs>
            </a:gsLst>
            <a:lin ang="13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7"/>
          <p:cNvSpPr/>
          <p:nvPr/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0A3041">
                  <a:alpha val="51764"/>
                </a:srgbClr>
              </a:gs>
              <a:gs pos="100000">
                <a:srgbClr val="0A3041">
                  <a:alpha val="51764"/>
                </a:srgbClr>
              </a:gs>
            </a:gsLst>
            <a:lin ang="16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27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Play"/>
              <a:buNone/>
            </a:pPr>
            <a:r>
              <a:rPr lang="it-IT" sz="5000">
                <a:solidFill>
                  <a:srgbClr val="FFFFFF"/>
                </a:solidFill>
              </a:rPr>
              <a:t>Relative Error Reduction Overview</a:t>
            </a:r>
            <a:endParaRPr/>
          </a:p>
        </p:txBody>
      </p:sp>
      <p:pic>
        <p:nvPicPr>
          <p:cNvPr id="278" name="Google Shape;278;p27" descr="Immagine che contiene testo, Carattere, diagramma, schermata&#10;&#10;Il contenuto generato dall'IA potrebbe non essere corretto.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932298" y="1622745"/>
            <a:ext cx="6327399" cy="52728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8"/>
          <p:cNvSpPr/>
          <p:nvPr/>
        </p:nvSpPr>
        <p:spPr>
          <a:xfrm rot="5400000" flipH="1">
            <a:off x="-915201" y="916050"/>
            <a:ext cx="6858000" cy="5025900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0F4861"/>
              </a:gs>
            </a:gsLst>
            <a:lin ang="3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8"/>
          <p:cNvSpPr/>
          <p:nvPr/>
        </p:nvSpPr>
        <p:spPr>
          <a:xfrm rot="5400000" flipH="1">
            <a:off x="-657674" y="659650"/>
            <a:ext cx="6346200" cy="50472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156082">
                  <a:alpha val="0"/>
                </a:srgbClr>
              </a:gs>
              <a:gs pos="100000">
                <a:srgbClr val="156082">
                  <a:alpha val="0"/>
                </a:srgbClr>
              </a:gs>
            </a:gsLst>
            <a:lin ang="1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8"/>
          <p:cNvSpPr/>
          <p:nvPr/>
        </p:nvSpPr>
        <p:spPr>
          <a:xfrm rot="5400000" flipH="1">
            <a:off x="1252151" y="3095700"/>
            <a:ext cx="2502000" cy="5022600"/>
          </a:xfrm>
          <a:prstGeom prst="rect">
            <a:avLst/>
          </a:prstGeom>
          <a:gradFill>
            <a:gsLst>
              <a:gs pos="0">
                <a:srgbClr val="156082">
                  <a:alpha val="28627"/>
                </a:srgbClr>
              </a:gs>
              <a:gs pos="2000">
                <a:srgbClr val="156082">
                  <a:alpha val="28627"/>
                </a:srgbClr>
              </a:gs>
              <a:gs pos="100000">
                <a:srgbClr val="000000">
                  <a:alpha val="29803"/>
                </a:srgbClr>
              </a:gs>
            </a:gsLst>
            <a:lin ang="7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28"/>
          <p:cNvSpPr/>
          <p:nvPr/>
        </p:nvSpPr>
        <p:spPr>
          <a:xfrm rot="5400000" flipH="1">
            <a:off x="-695626" y="1123350"/>
            <a:ext cx="6858000" cy="46113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156082">
                  <a:alpha val="10980"/>
                </a:srgbClr>
              </a:gs>
              <a:gs pos="100000">
                <a:srgbClr val="156082">
                  <a:alpha val="10980"/>
                </a:srgbClr>
              </a:gs>
            </a:gsLst>
            <a:lin ang="7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28"/>
          <p:cNvSpPr/>
          <p:nvPr/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0">
                <a:srgbClr val="156082">
                  <a:alpha val="0"/>
                </a:srgbClr>
              </a:gs>
              <a:gs pos="39000">
                <a:srgbClr val="156082">
                  <a:alpha val="0"/>
                </a:srgbClr>
              </a:gs>
              <a:gs pos="100000">
                <a:srgbClr val="43AFE2">
                  <a:alpha val="14901"/>
                </a:srgbClr>
              </a:gs>
            </a:gsLst>
            <a:lin ang="17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28"/>
          <p:cNvSpPr txBox="1">
            <a:spLocks noGrp="1"/>
          </p:cNvSpPr>
          <p:nvPr>
            <p:ph type="title"/>
          </p:nvPr>
        </p:nvSpPr>
        <p:spPr>
          <a:xfrm>
            <a:off x="-43725" y="586855"/>
            <a:ext cx="5100222" cy="3387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Play"/>
              <a:buNone/>
            </a:pPr>
            <a:r>
              <a:rPr lang="it-IT" sz="5000">
                <a:solidFill>
                  <a:srgbClr val="FFFFFF"/>
                </a:solidFill>
              </a:rPr>
              <a:t>Analysis I: </a:t>
            </a:r>
            <a:br>
              <a:rPr lang="it-IT" sz="5000">
                <a:solidFill>
                  <a:srgbClr val="FFFFFF"/>
                </a:solidFill>
              </a:rPr>
            </a:br>
            <a:r>
              <a:rPr lang="it-IT" sz="5000">
                <a:solidFill>
                  <a:srgbClr val="FFFFFF"/>
                </a:solidFill>
              </a:rPr>
              <a:t>The Scaling Fallacy</a:t>
            </a:r>
            <a:endParaRPr sz="5000">
              <a:solidFill>
                <a:srgbClr val="FFFFFF"/>
              </a:solidFill>
            </a:endParaRPr>
          </a:p>
        </p:txBody>
      </p:sp>
      <p:sp>
        <p:nvSpPr>
          <p:cNvPr id="290" name="Google Shape;290;p28"/>
          <p:cNvSpPr txBox="1">
            <a:spLocks noGrp="1"/>
          </p:cNvSpPr>
          <p:nvPr>
            <p:ph type="body" idx="1"/>
          </p:nvPr>
        </p:nvSpPr>
        <p:spPr>
          <a:xfrm>
            <a:off x="5776449" y="649475"/>
            <a:ext cx="5589300" cy="55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it-IT" sz="2600"/>
              <a:t>Assumption: Bigger is better.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endParaRPr sz="26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it-IT" sz="2600"/>
              <a:t>Reality: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it-IT" sz="2600"/>
              <a:t>Qwen 2.5 (72B) was worse than Qwen 3 (4B).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it-IT" sz="2600"/>
              <a:t>Gemini 2.0 Flash (~20B) rivaled GPT-5 (Trillions).</a:t>
            </a:r>
            <a:endParaRPr/>
          </a:p>
          <a:p>
            <a:pPr marL="228600" lvl="0" indent="-63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endParaRPr sz="26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it-IT" sz="2600"/>
              <a:t>Conclusion: Specific training data matters more than parameter count.</a:t>
            </a:r>
            <a:endParaRPr sz="26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9"/>
          <p:cNvSpPr/>
          <p:nvPr/>
        </p:nvSpPr>
        <p:spPr>
          <a:xfrm rot="5400000" flipH="1">
            <a:off x="-909076" y="909900"/>
            <a:ext cx="6858000" cy="5038200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0F4861"/>
              </a:gs>
            </a:gsLst>
            <a:lin ang="3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29"/>
          <p:cNvSpPr/>
          <p:nvPr/>
        </p:nvSpPr>
        <p:spPr>
          <a:xfrm rot="5400000" flipH="1">
            <a:off x="-663799" y="665800"/>
            <a:ext cx="6346200" cy="50349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156082">
                  <a:alpha val="0"/>
                </a:srgbClr>
              </a:gs>
              <a:gs pos="100000">
                <a:srgbClr val="156082">
                  <a:alpha val="0"/>
                </a:srgbClr>
              </a:gs>
            </a:gsLst>
            <a:lin ang="1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9"/>
          <p:cNvSpPr/>
          <p:nvPr/>
        </p:nvSpPr>
        <p:spPr>
          <a:xfrm rot="5400000" flipH="1">
            <a:off x="1270576" y="3077250"/>
            <a:ext cx="2502000" cy="5059500"/>
          </a:xfrm>
          <a:prstGeom prst="rect">
            <a:avLst/>
          </a:prstGeom>
          <a:gradFill>
            <a:gsLst>
              <a:gs pos="0">
                <a:srgbClr val="156082">
                  <a:alpha val="28627"/>
                </a:srgbClr>
              </a:gs>
              <a:gs pos="2000">
                <a:srgbClr val="156082">
                  <a:alpha val="28627"/>
                </a:srgbClr>
              </a:gs>
              <a:gs pos="100000">
                <a:srgbClr val="000000">
                  <a:alpha val="29803"/>
                </a:srgbClr>
              </a:gs>
            </a:gsLst>
            <a:lin ang="7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29"/>
          <p:cNvSpPr/>
          <p:nvPr/>
        </p:nvSpPr>
        <p:spPr>
          <a:xfrm rot="5400000" flipH="1">
            <a:off x="-695626" y="1123350"/>
            <a:ext cx="6858000" cy="46113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156082">
                  <a:alpha val="10980"/>
                </a:srgbClr>
              </a:gs>
              <a:gs pos="100000">
                <a:srgbClr val="156082">
                  <a:alpha val="10980"/>
                </a:srgbClr>
              </a:gs>
            </a:gsLst>
            <a:lin ang="7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29"/>
          <p:cNvSpPr/>
          <p:nvPr/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0">
                <a:srgbClr val="156082">
                  <a:alpha val="0"/>
                </a:srgbClr>
              </a:gs>
              <a:gs pos="39000">
                <a:srgbClr val="156082">
                  <a:alpha val="0"/>
                </a:srgbClr>
              </a:gs>
              <a:gs pos="100000">
                <a:srgbClr val="43AFE2">
                  <a:alpha val="14901"/>
                </a:srgbClr>
              </a:gs>
            </a:gsLst>
            <a:lin ang="17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29"/>
          <p:cNvSpPr txBox="1"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Play"/>
              <a:buNone/>
            </a:pPr>
            <a:r>
              <a:rPr lang="it-IT" sz="5000">
                <a:solidFill>
                  <a:srgbClr val="FFFFFF"/>
                </a:solidFill>
              </a:rPr>
              <a:t>Analysis II: Vision &amp; Drift</a:t>
            </a:r>
            <a:endParaRPr/>
          </a:p>
        </p:txBody>
      </p:sp>
      <p:sp>
        <p:nvSpPr>
          <p:cNvPr id="302" name="Google Shape;302;p29"/>
          <p:cNvSpPr txBox="1">
            <a:spLocks noGrp="1"/>
          </p:cNvSpPr>
          <p:nvPr>
            <p:ph type="body" idx="1"/>
          </p:nvPr>
        </p:nvSpPr>
        <p:spPr>
          <a:xfrm>
            <a:off x="5764149" y="649475"/>
            <a:ext cx="5601600" cy="55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</a:pPr>
            <a:r>
              <a:rPr lang="it-IT" sz="3000"/>
              <a:t>Vision-Language Potential: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it-IT" sz="2600"/>
              <a:t>Qwen3-VL (+54% RER).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it-IT" sz="2600"/>
              <a:t>Hypothesis: Visual grounding helps understand glyph confusion.</a:t>
            </a:r>
            <a:endParaRPr/>
          </a:p>
          <a:p>
            <a:pPr marL="228600" lvl="0" indent="-635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endParaRPr sz="26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</a:pPr>
            <a:r>
              <a:rPr lang="it-IT" sz="3000"/>
              <a:t>Generational Drift: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it-IT" sz="2600"/>
              <a:t>Gemini 2.0 Flash (+68%) beat Gemini 2.5 Flash (+38%).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it-IT" sz="2600"/>
              <a:t>Latest ≠ Best for niche tasks.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30"/>
          <p:cNvSpPr/>
          <p:nvPr/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861"/>
              </a:gs>
            </a:gsLst>
            <a:lin ang="8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30"/>
          <p:cNvSpPr/>
          <p:nvPr/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20000">
                <a:srgbClr val="156082">
                  <a:alpha val="0"/>
                </a:srgbClr>
              </a:gs>
              <a:gs pos="100000">
                <a:srgbClr val="0A3041">
                  <a:alpha val="54901"/>
                </a:srgbClr>
              </a:gs>
            </a:gsLst>
            <a:lin ang="13800001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30"/>
          <p:cNvSpPr/>
          <p:nvPr/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rgbClr val="156082">
                  <a:alpha val="65882"/>
                </a:srgbClr>
              </a:gs>
              <a:gs pos="100000">
                <a:srgbClr val="000000">
                  <a:alpha val="29803"/>
                </a:srgbClr>
              </a:gs>
            </a:gsLst>
            <a:lin ang="13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30"/>
          <p:cNvSpPr/>
          <p:nvPr/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0A3041">
                  <a:alpha val="51764"/>
                </a:srgbClr>
              </a:gs>
              <a:gs pos="100000">
                <a:srgbClr val="0A3041">
                  <a:alpha val="51764"/>
                </a:srgbClr>
              </a:gs>
            </a:gsLst>
            <a:lin ang="16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30"/>
          <p:cNvSpPr txBox="1"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Play"/>
              <a:buNone/>
            </a:pPr>
            <a:r>
              <a:rPr lang="it-IT" sz="5000">
                <a:solidFill>
                  <a:srgbClr val="FFFFFF"/>
                </a:solidFill>
              </a:rPr>
              <a:t>Cost vs Performance</a:t>
            </a:r>
            <a:endParaRPr/>
          </a:p>
        </p:txBody>
      </p:sp>
      <p:pic>
        <p:nvPicPr>
          <p:cNvPr id="313" name="Google Shape;313;p30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158499" y="1759241"/>
            <a:ext cx="7875000" cy="488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31"/>
          <p:cNvSpPr/>
          <p:nvPr/>
        </p:nvSpPr>
        <p:spPr>
          <a:xfrm rot="5400000" flipH="1">
            <a:off x="-915201" y="916050"/>
            <a:ext cx="6858000" cy="5025900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0F4861"/>
              </a:gs>
            </a:gsLst>
            <a:lin ang="3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31"/>
          <p:cNvSpPr/>
          <p:nvPr/>
        </p:nvSpPr>
        <p:spPr>
          <a:xfrm rot="5400000" flipH="1">
            <a:off x="-663799" y="665800"/>
            <a:ext cx="6346200" cy="50349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156082">
                  <a:alpha val="0"/>
                </a:srgbClr>
              </a:gs>
              <a:gs pos="100000">
                <a:srgbClr val="156082">
                  <a:alpha val="0"/>
                </a:srgbClr>
              </a:gs>
            </a:gsLst>
            <a:lin ang="1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31"/>
          <p:cNvSpPr/>
          <p:nvPr/>
        </p:nvSpPr>
        <p:spPr>
          <a:xfrm rot="5400000" flipH="1">
            <a:off x="1258301" y="3089550"/>
            <a:ext cx="2502000" cy="5034900"/>
          </a:xfrm>
          <a:prstGeom prst="rect">
            <a:avLst/>
          </a:prstGeom>
          <a:gradFill>
            <a:gsLst>
              <a:gs pos="0">
                <a:srgbClr val="156082">
                  <a:alpha val="28627"/>
                </a:srgbClr>
              </a:gs>
              <a:gs pos="2000">
                <a:srgbClr val="156082">
                  <a:alpha val="28627"/>
                </a:srgbClr>
              </a:gs>
              <a:gs pos="100000">
                <a:srgbClr val="000000">
                  <a:alpha val="29803"/>
                </a:srgbClr>
              </a:gs>
            </a:gsLst>
            <a:lin ang="7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31"/>
          <p:cNvSpPr/>
          <p:nvPr/>
        </p:nvSpPr>
        <p:spPr>
          <a:xfrm rot="5400000" flipH="1">
            <a:off x="-695626" y="1123350"/>
            <a:ext cx="6858000" cy="46113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156082">
                  <a:alpha val="10980"/>
                </a:srgbClr>
              </a:gs>
              <a:gs pos="100000">
                <a:srgbClr val="156082">
                  <a:alpha val="10980"/>
                </a:srgbClr>
              </a:gs>
            </a:gsLst>
            <a:lin ang="7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31"/>
          <p:cNvSpPr/>
          <p:nvPr/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0">
                <a:srgbClr val="156082">
                  <a:alpha val="0"/>
                </a:srgbClr>
              </a:gs>
              <a:gs pos="39000">
                <a:srgbClr val="156082">
                  <a:alpha val="0"/>
                </a:srgbClr>
              </a:gs>
              <a:gs pos="100000">
                <a:srgbClr val="43AFE2">
                  <a:alpha val="14901"/>
                </a:srgbClr>
              </a:gs>
            </a:gsLst>
            <a:lin ang="17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31"/>
          <p:cNvSpPr txBox="1"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Play"/>
              <a:buNone/>
            </a:pPr>
            <a:r>
              <a:rPr lang="it-IT" sz="5000">
                <a:solidFill>
                  <a:srgbClr val="FFFFFF"/>
                </a:solidFill>
              </a:rPr>
              <a:t>The Efficiency Frontier</a:t>
            </a:r>
            <a:endParaRPr sz="5000">
              <a:solidFill>
                <a:srgbClr val="FFFFFF"/>
              </a:solidFill>
            </a:endParaRPr>
          </a:p>
        </p:txBody>
      </p:sp>
      <p:sp>
        <p:nvSpPr>
          <p:cNvPr id="325" name="Google Shape;325;p31"/>
          <p:cNvSpPr txBox="1">
            <a:spLocks noGrp="1"/>
          </p:cNvSpPr>
          <p:nvPr>
            <p:ph type="body" idx="1"/>
          </p:nvPr>
        </p:nvSpPr>
        <p:spPr>
          <a:xfrm>
            <a:off x="5764150" y="649475"/>
            <a:ext cx="4891500" cy="13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it-IT" sz="2600" b="1"/>
              <a:t>The Sweet Spot</a:t>
            </a:r>
            <a:endParaRPr b="1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it-IT" sz="2600"/>
              <a:t>(High Performance, Low Cost):</a:t>
            </a:r>
            <a:endParaRPr sz="2600"/>
          </a:p>
        </p:txBody>
      </p:sp>
      <p:graphicFrame>
        <p:nvGraphicFramePr>
          <p:cNvPr id="326" name="Google Shape;326;p31"/>
          <p:cNvGraphicFramePr/>
          <p:nvPr/>
        </p:nvGraphicFramePr>
        <p:xfrm>
          <a:off x="5764150" y="1831325"/>
          <a:ext cx="5297100" cy="1554390"/>
        </p:xfrm>
        <a:graphic>
          <a:graphicData uri="http://schemas.openxmlformats.org/drawingml/2006/table">
            <a:tbl>
              <a:tblPr>
                <a:noFill/>
                <a:tableStyleId>{357DC75F-CB60-4E37-9FD5-969567CD5338}</a:tableStyleId>
              </a:tblPr>
              <a:tblGrid>
                <a:gridCol w="2648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8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2200" b="1"/>
                        <a:t>Model</a:t>
                      </a:r>
                      <a:endParaRPr sz="22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2200" b="1"/>
                        <a:t>$/1M token</a:t>
                      </a:r>
                      <a:endParaRPr sz="2200"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2200"/>
                        <a:t>DeepSeek V3</a:t>
                      </a:r>
                      <a:endParaRPr sz="2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2200"/>
                        <a:t>0.70</a:t>
                      </a:r>
                      <a:endParaRPr sz="22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2200"/>
                        <a:t>Gemini 2.0 Flash</a:t>
                      </a:r>
                      <a:endParaRPr sz="2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2200"/>
                        <a:t>0.5 </a:t>
                      </a:r>
                      <a:endParaRPr sz="22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27" name="Google Shape;327;p31"/>
          <p:cNvSpPr txBox="1"/>
          <p:nvPr/>
        </p:nvSpPr>
        <p:spPr>
          <a:xfrm>
            <a:off x="5764150" y="3794775"/>
            <a:ext cx="4756500" cy="92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it-IT" sz="2600" b="1">
                <a:solidFill>
                  <a:schemeClr val="dk1"/>
                </a:solidFill>
              </a:rPr>
              <a:t>Diminishing Returns </a:t>
            </a:r>
            <a:endParaRPr sz="26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it-IT" sz="2600">
                <a:solidFill>
                  <a:schemeClr val="dk1"/>
                </a:solidFill>
              </a:rPr>
              <a:t>(High Cost):</a:t>
            </a:r>
            <a:endParaRPr sz="2800">
              <a:solidFill>
                <a:schemeClr val="dk1"/>
              </a:solidFill>
            </a:endParaRPr>
          </a:p>
        </p:txBody>
      </p:sp>
      <p:graphicFrame>
        <p:nvGraphicFramePr>
          <p:cNvPr id="328" name="Google Shape;328;p31"/>
          <p:cNvGraphicFramePr/>
          <p:nvPr/>
        </p:nvGraphicFramePr>
        <p:xfrm>
          <a:off x="5764150" y="4829813"/>
          <a:ext cx="5297100" cy="1554390"/>
        </p:xfrm>
        <a:graphic>
          <a:graphicData uri="http://schemas.openxmlformats.org/drawingml/2006/table">
            <a:tbl>
              <a:tblPr>
                <a:noFill/>
                <a:tableStyleId>{357DC75F-CB60-4E37-9FD5-969567CD5338}</a:tableStyleId>
              </a:tblPr>
              <a:tblGrid>
                <a:gridCol w="2648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48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2200" b="1"/>
                        <a:t>Model</a:t>
                      </a:r>
                      <a:endParaRPr sz="2200" b="1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2200" b="1"/>
                        <a:t>$/1M token</a:t>
                      </a:r>
                      <a:endParaRPr sz="2200"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2200"/>
                        <a:t>GPT-5</a:t>
                      </a:r>
                      <a:endParaRPr sz="2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2200"/>
                        <a:t>11.25</a:t>
                      </a:r>
                      <a:endParaRPr sz="22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2200"/>
                        <a:t>Qwen3-VL</a:t>
                      </a:r>
                      <a:endParaRPr sz="220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t-IT" sz="2200"/>
                        <a:t>3.5</a:t>
                      </a:r>
                      <a:endParaRPr sz="22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32"/>
          <p:cNvSpPr/>
          <p:nvPr/>
        </p:nvSpPr>
        <p:spPr>
          <a:xfrm rot="5400000" flipH="1">
            <a:off x="-909076" y="909900"/>
            <a:ext cx="6858000" cy="5038200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0F4861"/>
              </a:gs>
            </a:gsLst>
            <a:lin ang="3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32"/>
          <p:cNvSpPr/>
          <p:nvPr/>
        </p:nvSpPr>
        <p:spPr>
          <a:xfrm rot="5400000" flipH="1">
            <a:off x="-663799" y="665800"/>
            <a:ext cx="6346200" cy="50349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156082">
                  <a:alpha val="0"/>
                </a:srgbClr>
              </a:gs>
              <a:gs pos="100000">
                <a:srgbClr val="156082">
                  <a:alpha val="0"/>
                </a:srgbClr>
              </a:gs>
            </a:gsLst>
            <a:lin ang="1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32"/>
          <p:cNvSpPr/>
          <p:nvPr/>
        </p:nvSpPr>
        <p:spPr>
          <a:xfrm rot="5400000" flipH="1">
            <a:off x="1258301" y="3089550"/>
            <a:ext cx="2502000" cy="5034900"/>
          </a:xfrm>
          <a:prstGeom prst="rect">
            <a:avLst/>
          </a:prstGeom>
          <a:gradFill>
            <a:gsLst>
              <a:gs pos="0">
                <a:srgbClr val="156082">
                  <a:alpha val="28627"/>
                </a:srgbClr>
              </a:gs>
              <a:gs pos="2000">
                <a:srgbClr val="156082">
                  <a:alpha val="28627"/>
                </a:srgbClr>
              </a:gs>
              <a:gs pos="100000">
                <a:srgbClr val="000000">
                  <a:alpha val="29803"/>
                </a:srgbClr>
              </a:gs>
            </a:gsLst>
            <a:lin ang="7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32"/>
          <p:cNvSpPr/>
          <p:nvPr/>
        </p:nvSpPr>
        <p:spPr>
          <a:xfrm rot="5400000" flipH="1">
            <a:off x="-695626" y="1123350"/>
            <a:ext cx="6858000" cy="46113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156082">
                  <a:alpha val="10980"/>
                </a:srgbClr>
              </a:gs>
              <a:gs pos="100000">
                <a:srgbClr val="156082">
                  <a:alpha val="10980"/>
                </a:srgbClr>
              </a:gs>
            </a:gsLst>
            <a:lin ang="7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32"/>
          <p:cNvSpPr/>
          <p:nvPr/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0">
                <a:srgbClr val="156082">
                  <a:alpha val="0"/>
                </a:srgbClr>
              </a:gs>
              <a:gs pos="39000">
                <a:srgbClr val="156082">
                  <a:alpha val="0"/>
                </a:srgbClr>
              </a:gs>
              <a:gs pos="100000">
                <a:srgbClr val="43AFE2">
                  <a:alpha val="14901"/>
                </a:srgbClr>
              </a:gs>
            </a:gsLst>
            <a:lin ang="174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32"/>
          <p:cNvSpPr txBox="1">
            <a:spLocks noGrp="1"/>
          </p:cNvSpPr>
          <p:nvPr>
            <p:ph type="title"/>
          </p:nvPr>
        </p:nvSpPr>
        <p:spPr>
          <a:xfrm>
            <a:off x="-481475" y="586850"/>
            <a:ext cx="5519700" cy="3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Play"/>
              <a:buNone/>
            </a:pPr>
            <a:r>
              <a:rPr lang="it-IT" sz="5000">
                <a:solidFill>
                  <a:srgbClr val="FFFFFF"/>
                </a:solidFill>
              </a:rPr>
              <a:t>Conclusion &amp; Further Research</a:t>
            </a:r>
            <a:endParaRPr sz="5000">
              <a:solidFill>
                <a:srgbClr val="FFFFFF"/>
              </a:solidFill>
            </a:endParaRPr>
          </a:p>
        </p:txBody>
      </p:sp>
      <p:sp>
        <p:nvSpPr>
          <p:cNvPr id="340" name="Google Shape;340;p32"/>
          <p:cNvSpPr txBox="1">
            <a:spLocks noGrp="1"/>
          </p:cNvSpPr>
          <p:nvPr>
            <p:ph type="body" idx="1"/>
          </p:nvPr>
        </p:nvSpPr>
        <p:spPr>
          <a:xfrm>
            <a:off x="6503158" y="649480"/>
            <a:ext cx="4862447" cy="55460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/>
              <a:t>1. </a:t>
            </a:r>
            <a:r>
              <a:rPr lang="it-IT" sz="2600" b="1"/>
              <a:t>OCR pipeline works</a:t>
            </a:r>
            <a:r>
              <a:rPr lang="it-IT" sz="2600"/>
              <a:t>: 75% improvement over legacy.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it-IT" sz="2600"/>
              <a:t>2. </a:t>
            </a:r>
            <a:r>
              <a:rPr lang="it-IT" sz="2600" b="1"/>
              <a:t>LLMs works</a:t>
            </a:r>
            <a:r>
              <a:rPr lang="it-IT" sz="2600"/>
              <a:t> (if chosen carefully): up to 75% further improvement.</a:t>
            </a:r>
            <a:endParaRPr sz="26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60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it-IT" sz="2600"/>
              <a:t>Further works:</a:t>
            </a:r>
            <a:endParaRPr sz="2600"/>
          </a:p>
          <a:p>
            <a:pPr marL="457200" lvl="0" indent="-3937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600"/>
              <a:buAutoNum type="arabicPeriod"/>
            </a:pPr>
            <a:r>
              <a:rPr lang="it-IT" sz="2600"/>
              <a:t>Improving Upstream Layout Analysis</a:t>
            </a:r>
            <a:endParaRPr sz="2600"/>
          </a:p>
          <a:p>
            <a:pPr marL="457200" lvl="0" indent="-3937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600"/>
              <a:buAutoNum type="arabicPeriod"/>
            </a:pPr>
            <a:r>
              <a:rPr lang="it-IT" sz="2600"/>
              <a:t>Leveraging Document-Level Context</a:t>
            </a:r>
            <a:endParaRPr sz="26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33"/>
          <p:cNvSpPr/>
          <p:nvPr/>
        </p:nvSpPr>
        <p:spPr>
          <a:xfrm rot="5400000" flipH="1">
            <a:off x="-909076" y="909900"/>
            <a:ext cx="6858000" cy="5038200"/>
          </a:xfrm>
          <a:prstGeom prst="rect">
            <a:avLst/>
          </a:prstGeom>
          <a:gradFill>
            <a:gsLst>
              <a:gs pos="0">
                <a:srgbClr val="000000"/>
              </a:gs>
              <a:gs pos="8000">
                <a:srgbClr val="000000"/>
              </a:gs>
              <a:gs pos="100000">
                <a:srgbClr val="0F4861"/>
              </a:gs>
            </a:gsLst>
            <a:lin ang="3000122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33"/>
          <p:cNvSpPr/>
          <p:nvPr/>
        </p:nvSpPr>
        <p:spPr>
          <a:xfrm rot="5400000" flipH="1">
            <a:off x="-663799" y="665800"/>
            <a:ext cx="6346200" cy="50349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156082">
                  <a:alpha val="0"/>
                </a:srgbClr>
              </a:gs>
              <a:gs pos="100000">
                <a:srgbClr val="156082">
                  <a:alpha val="0"/>
                </a:srgbClr>
              </a:gs>
            </a:gsLst>
            <a:lin ang="180000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33"/>
          <p:cNvSpPr/>
          <p:nvPr/>
        </p:nvSpPr>
        <p:spPr>
          <a:xfrm rot="5400000" flipH="1">
            <a:off x="1258301" y="3089550"/>
            <a:ext cx="2502000" cy="5034900"/>
          </a:xfrm>
          <a:prstGeom prst="rect">
            <a:avLst/>
          </a:prstGeom>
          <a:gradFill>
            <a:gsLst>
              <a:gs pos="0">
                <a:srgbClr val="156082">
                  <a:alpha val="28627"/>
                </a:srgbClr>
              </a:gs>
              <a:gs pos="2000">
                <a:srgbClr val="156082">
                  <a:alpha val="28627"/>
                </a:srgbClr>
              </a:gs>
              <a:gs pos="100000">
                <a:srgbClr val="000000">
                  <a:alpha val="29803"/>
                </a:srgbClr>
              </a:gs>
            </a:gsLst>
            <a:lin ang="7799903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33"/>
          <p:cNvSpPr/>
          <p:nvPr/>
        </p:nvSpPr>
        <p:spPr>
          <a:xfrm rot="5400000" flipH="1">
            <a:off x="-695626" y="1123350"/>
            <a:ext cx="6858000" cy="46113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rgbClr val="156082">
                  <a:alpha val="10980"/>
                </a:srgbClr>
              </a:gs>
              <a:gs pos="100000">
                <a:srgbClr val="156082">
                  <a:alpha val="10980"/>
                </a:srgbClr>
              </a:gs>
            </a:gsLst>
            <a:lin ang="7799903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33"/>
          <p:cNvSpPr/>
          <p:nvPr/>
        </p:nvSpPr>
        <p:spPr>
          <a:xfrm rot="6097846">
            <a:off x="818682" y="1128490"/>
            <a:ext cx="4318368" cy="4318368"/>
          </a:xfrm>
          <a:prstGeom prst="ellipse">
            <a:avLst/>
          </a:prstGeom>
          <a:gradFill>
            <a:gsLst>
              <a:gs pos="0">
                <a:srgbClr val="156082">
                  <a:alpha val="0"/>
                </a:srgbClr>
              </a:gs>
              <a:gs pos="39000">
                <a:srgbClr val="156082">
                  <a:alpha val="0"/>
                </a:srgbClr>
              </a:gs>
              <a:gs pos="100000">
                <a:srgbClr val="43AFE2">
                  <a:alpha val="14901"/>
                </a:srgbClr>
              </a:gs>
            </a:gsLst>
            <a:lin ang="1740015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33"/>
          <p:cNvSpPr txBox="1">
            <a:spLocks noGrp="1"/>
          </p:cNvSpPr>
          <p:nvPr>
            <p:ph type="title"/>
          </p:nvPr>
        </p:nvSpPr>
        <p:spPr>
          <a:xfrm>
            <a:off x="0" y="586850"/>
            <a:ext cx="5038200" cy="3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Play"/>
              <a:buNone/>
            </a:pPr>
            <a:r>
              <a:rPr lang="it-IT" sz="5000">
                <a:solidFill>
                  <a:srgbClr val="FFFFFF"/>
                </a:solidFill>
              </a:rPr>
              <a:t>Document-Level Context</a:t>
            </a:r>
            <a:endParaRPr sz="5000">
              <a:solidFill>
                <a:srgbClr val="FFFFFF"/>
              </a:solidFill>
            </a:endParaRPr>
          </a:p>
        </p:txBody>
      </p:sp>
      <p:pic>
        <p:nvPicPr>
          <p:cNvPr id="352" name="Google Shape;352;p33" title="Screenshot from 2025-12-02 17-54-1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67774" y="296738"/>
            <a:ext cx="4304235" cy="6264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4"/>
          <p:cNvSpPr/>
          <p:nvPr/>
        </p:nvSpPr>
        <p:spPr>
          <a:xfrm>
            <a:off x="459350" y="-1"/>
            <a:ext cx="11732700" cy="15975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0000">
                <a:srgbClr val="000000">
                  <a:alpha val="0"/>
                </a:srgbClr>
              </a:gs>
              <a:gs pos="99000">
                <a:srgbClr val="0A3041">
                  <a:alpha val="51764"/>
                </a:srgbClr>
              </a:gs>
              <a:gs pos="100000">
                <a:srgbClr val="0A3041">
                  <a:alpha val="51764"/>
                </a:srgbClr>
              </a:gs>
            </a:gsLst>
            <a:lin ang="16799925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3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34"/>
          <p:cNvSpPr/>
          <p:nvPr/>
        </p:nvSpPr>
        <p:spPr>
          <a:xfrm rot="10800000" flipH="1">
            <a:off x="0" y="326"/>
            <a:ext cx="8115300" cy="6855600"/>
          </a:xfrm>
          <a:prstGeom prst="rect">
            <a:avLst/>
          </a:prstGeom>
          <a:gradFill>
            <a:gsLst>
              <a:gs pos="0">
                <a:srgbClr val="156082">
                  <a:alpha val="0"/>
                </a:srgbClr>
              </a:gs>
              <a:gs pos="20000">
                <a:srgbClr val="156082">
                  <a:alpha val="0"/>
                </a:srgbClr>
              </a:gs>
              <a:gs pos="100000">
                <a:srgbClr val="0A3041">
                  <a:alpha val="54901"/>
                </a:srgbClr>
              </a:gs>
            </a:gsLst>
            <a:lin ang="1380014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34"/>
          <p:cNvSpPr/>
          <p:nvPr/>
        </p:nvSpPr>
        <p:spPr>
          <a:xfrm flipH="1">
            <a:off x="0" y="3"/>
            <a:ext cx="12192000" cy="68556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rgbClr val="0F4861"/>
              </a:gs>
            </a:gsLst>
            <a:lin ang="8400134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34"/>
          <p:cNvSpPr/>
          <p:nvPr/>
        </p:nvSpPr>
        <p:spPr>
          <a:xfrm flipH="1">
            <a:off x="42000" y="0"/>
            <a:ext cx="12150000" cy="6858000"/>
          </a:xfrm>
          <a:prstGeom prst="rect">
            <a:avLst/>
          </a:prstGeom>
          <a:gradFill>
            <a:gsLst>
              <a:gs pos="0">
                <a:srgbClr val="156082">
                  <a:alpha val="65882"/>
                </a:srgbClr>
              </a:gs>
              <a:gs pos="100000">
                <a:srgbClr val="000000">
                  <a:alpha val="29803"/>
                </a:srgbClr>
              </a:gs>
            </a:gsLst>
            <a:lin ang="13199916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34"/>
          <p:cNvSpPr txBox="1"/>
          <p:nvPr/>
        </p:nvSpPr>
        <p:spPr>
          <a:xfrm>
            <a:off x="831000" y="1517725"/>
            <a:ext cx="10530000" cy="15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70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Thank you for your attention.</a:t>
            </a:r>
            <a:endParaRPr sz="70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363" name="Google Shape;363;p34"/>
          <p:cNvSpPr txBox="1"/>
          <p:nvPr/>
        </p:nvSpPr>
        <p:spPr>
          <a:xfrm>
            <a:off x="831000" y="4381100"/>
            <a:ext cx="10530000" cy="15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>
                <a:solidFill>
                  <a:schemeClr val="lt1"/>
                </a:solidFill>
              </a:rPr>
              <a:t>Improving OCR Output Quality of Historical German Texts with LLMs</a:t>
            </a:r>
            <a:endParaRPr sz="2600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600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600">
                <a:solidFill>
                  <a:schemeClr val="lt1"/>
                </a:solidFill>
              </a:rPr>
              <a:t>Federico Villa</a:t>
            </a:r>
            <a:endParaRPr sz="2600">
              <a:solidFill>
                <a:schemeClr val="lt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6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841</Words>
  <Application>Microsoft Office PowerPoint</Application>
  <PresentationFormat>Widescreen</PresentationFormat>
  <Paragraphs>160</Paragraphs>
  <Slides>22</Slides>
  <Notes>22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22</vt:i4>
      </vt:variant>
    </vt:vector>
  </HeadingPairs>
  <TitlesOfParts>
    <vt:vector size="27" baseType="lpstr">
      <vt:lpstr>UnifrakturMaguntia</vt:lpstr>
      <vt:lpstr>Consolas</vt:lpstr>
      <vt:lpstr>Arial</vt:lpstr>
      <vt:lpstr>Play</vt:lpstr>
      <vt:lpstr>Tema di Office</vt:lpstr>
      <vt:lpstr>Improving OCR Output Quality of Historical German Texts with LLMs</vt:lpstr>
      <vt:lpstr>Digitizing South Tyrolean Heritage</vt:lpstr>
      <vt:lpstr>The Problem:  Fraktur &amp; Historical Noise</vt:lpstr>
      <vt:lpstr>Why Standard OCR Fails</vt:lpstr>
      <vt:lpstr>Research Objectives</vt:lpstr>
      <vt:lpstr>Methodology: A Two-Stage Pipeline</vt:lpstr>
      <vt:lpstr>Stage 1 Results: The OCR Baseline</vt:lpstr>
      <vt:lpstr>Stage 1 Results: The OCR Baseline</vt:lpstr>
      <vt:lpstr>The Remaining Challenge: Residual Errors</vt:lpstr>
      <vt:lpstr>LLM Post-Correction Setup</vt:lpstr>
      <vt:lpstr>System Prompt Design</vt:lpstr>
      <vt:lpstr>Post-Correction Results:  The Bifurcation</vt:lpstr>
      <vt:lpstr>The Enhancer (Top Performers)</vt:lpstr>
      <vt:lpstr>The Regressors</vt:lpstr>
      <vt:lpstr>Relative Error Reduction Overview</vt:lpstr>
      <vt:lpstr>Analysis I:  The Scaling Fallacy</vt:lpstr>
      <vt:lpstr>Analysis II: Vision &amp; Drift</vt:lpstr>
      <vt:lpstr>Cost vs Performance</vt:lpstr>
      <vt:lpstr>The Efficiency Frontier</vt:lpstr>
      <vt:lpstr>Conclusion &amp; Further Research</vt:lpstr>
      <vt:lpstr>Document-Level Context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Federico Villa</cp:lastModifiedBy>
  <cp:revision>1</cp:revision>
  <dcterms:modified xsi:type="dcterms:W3CDTF">2025-12-02T22:56:07Z</dcterms:modified>
</cp:coreProperties>
</file>